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29"/>
  </p:notesMasterIdLst>
  <p:sldIdLst>
    <p:sldId id="295" r:id="rId2"/>
    <p:sldId id="257" r:id="rId3"/>
    <p:sldId id="259" r:id="rId4"/>
    <p:sldId id="260" r:id="rId5"/>
    <p:sldId id="296" r:id="rId6"/>
    <p:sldId id="297" r:id="rId7"/>
    <p:sldId id="298" r:id="rId8"/>
    <p:sldId id="315" r:id="rId9"/>
    <p:sldId id="300" r:id="rId10"/>
    <p:sldId id="316" r:id="rId11"/>
    <p:sldId id="309" r:id="rId12"/>
    <p:sldId id="299" r:id="rId13"/>
    <p:sldId id="301" r:id="rId14"/>
    <p:sldId id="317" r:id="rId15"/>
    <p:sldId id="302" r:id="rId16"/>
    <p:sldId id="303" r:id="rId17"/>
    <p:sldId id="304" r:id="rId18"/>
    <p:sldId id="318" r:id="rId19"/>
    <p:sldId id="311" r:id="rId20"/>
    <p:sldId id="312" r:id="rId21"/>
    <p:sldId id="313" r:id="rId22"/>
    <p:sldId id="314" r:id="rId23"/>
    <p:sldId id="305" r:id="rId24"/>
    <p:sldId id="307" r:id="rId25"/>
    <p:sldId id="308" r:id="rId26"/>
    <p:sldId id="306" r:id="rId27"/>
    <p:sldId id="262" r:id="rId28"/>
  </p:sldIdLst>
  <p:sldSz cx="9144000" cy="5143500" type="screen16x9"/>
  <p:notesSz cx="6858000" cy="9144000"/>
  <p:embeddedFontLst>
    <p:embeddedFont>
      <p:font typeface="Titillium Web" pitchFamily="2" charset="77"/>
      <p:regular r:id="rId30"/>
      <p:bold r:id="rId31"/>
      <p:italic r:id="rId32"/>
      <p:boldItalic r:id="rId33"/>
    </p:embeddedFont>
    <p:embeddedFont>
      <p:font typeface="Titillium Web Light" panose="020F030202020403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BDED31F-4C28-4180-97D3-87A74C8CC402}">
  <a:tblStyle styleId="{EBDED31F-4C28-4180-97D3-87A74C8CC40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93F4AB4-FE6C-4C75-8DE0-3188A609124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5033" autoAdjust="0"/>
  </p:normalViewPr>
  <p:slideViewPr>
    <p:cSldViewPr snapToGrid="0">
      <p:cViewPr>
        <p:scale>
          <a:sx n="160" d="100"/>
          <a:sy n="160" d="100"/>
        </p:scale>
        <p:origin x="144"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a:extLst>
            <a:ext uri="{FF2B5EF4-FFF2-40B4-BE49-F238E27FC236}">
              <a16:creationId xmlns:a16="http://schemas.microsoft.com/office/drawing/2014/main" id="{4257A69B-F527-F675-6AF0-B09E2201AAEA}"/>
            </a:ext>
          </a:extLst>
        </p:cNvPr>
        <p:cNvGrpSpPr/>
        <p:nvPr/>
      </p:nvGrpSpPr>
      <p:grpSpPr>
        <a:xfrm>
          <a:off x="0" y="0"/>
          <a:ext cx="0" cy="0"/>
          <a:chOff x="0" y="0"/>
          <a:chExt cx="0" cy="0"/>
        </a:xfrm>
      </p:grpSpPr>
      <p:sp>
        <p:nvSpPr>
          <p:cNvPr id="78" name="Google Shape;78;p:notes">
            <a:extLst>
              <a:ext uri="{FF2B5EF4-FFF2-40B4-BE49-F238E27FC236}">
                <a16:creationId xmlns:a16="http://schemas.microsoft.com/office/drawing/2014/main" id="{FAE65C4C-6EAD-F4C7-C0E6-856CC5764A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p:notes">
            <a:extLst>
              <a:ext uri="{FF2B5EF4-FFF2-40B4-BE49-F238E27FC236}">
                <a16:creationId xmlns:a16="http://schemas.microsoft.com/office/drawing/2014/main" id="{C59CF7DC-73A9-12AE-B296-E3512E05B3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35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 name="Google Shape;11;p2"/>
          <p:cNvSpPr txBox="1">
            <a:spLocks noGrp="1"/>
          </p:cNvSpPr>
          <p:nvPr>
            <p:ph type="ctrTitle"/>
          </p:nvPr>
        </p:nvSpPr>
        <p:spPr>
          <a:xfrm>
            <a:off x="685800" y="743850"/>
            <a:ext cx="5796900" cy="1159800"/>
          </a:xfrm>
          <a:prstGeom prst="rect">
            <a:avLst/>
          </a:prstGeom>
        </p:spPr>
        <p:txBody>
          <a:bodyPr spcFirstLastPara="1" wrap="square" lIns="0" tIns="0" rIns="0" bIns="0" anchor="t"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a:spLocks noGrp="1"/>
          </p:cNvSpPr>
          <p:nvPr>
            <p:ph type="ctrTitle"/>
          </p:nvPr>
        </p:nvSpPr>
        <p:spPr>
          <a:xfrm>
            <a:off x="685800" y="973750"/>
            <a:ext cx="5796900" cy="11598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5" name="Google Shape;15;p3"/>
          <p:cNvSpPr txBox="1">
            <a:spLocks noGrp="1"/>
          </p:cNvSpPr>
          <p:nvPr>
            <p:ph type="subTitle" idx="1"/>
          </p:nvPr>
        </p:nvSpPr>
        <p:spPr>
          <a:xfrm>
            <a:off x="685800" y="2230450"/>
            <a:ext cx="5796900" cy="465300"/>
          </a:xfrm>
          <a:prstGeom prst="rect">
            <a:avLst/>
          </a:prstGeom>
        </p:spPr>
        <p:txBody>
          <a:bodyPr spcFirstLastPara="1" wrap="square" lIns="0" tIns="0" rIns="0" bIns="0" anchor="t" anchorCtr="0">
            <a:noAutofit/>
          </a:bodyPr>
          <a:lstStyle>
            <a:lvl1pPr lvl="0" rtl="0">
              <a:spcBef>
                <a:spcPts val="0"/>
              </a:spcBef>
              <a:spcAft>
                <a:spcPts val="0"/>
              </a:spcAft>
              <a:buSzPts val="2400"/>
              <a:buNone/>
              <a:defRPr sz="2400"/>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1"/>
        <p:cNvGrpSpPr/>
        <p:nvPr/>
      </p:nvGrpSpPr>
      <p:grpSpPr>
        <a:xfrm>
          <a:off x="0" y="0"/>
          <a:ext cx="0" cy="0"/>
          <a:chOff x="0" y="0"/>
          <a:chExt cx="0" cy="0"/>
        </a:xfrm>
      </p:grpSpPr>
      <p:pic>
        <p:nvPicPr>
          <p:cNvPr id="22" name="Google Shape;22;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434575"/>
            <a:ext cx="6025500" cy="857400"/>
          </a:xfrm>
          <a:prstGeom prst="rect">
            <a:avLst/>
          </a:prstGeom>
        </p:spPr>
        <p:txBody>
          <a:bodyPr spcFirstLastPara="1" wrap="square" lIns="0" tIns="0" rIns="0" bIns="0"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4" name="Google Shape;24;p5"/>
          <p:cNvSpPr txBox="1">
            <a:spLocks noGrp="1"/>
          </p:cNvSpPr>
          <p:nvPr>
            <p:ph type="body" idx="1"/>
          </p:nvPr>
        </p:nvSpPr>
        <p:spPr>
          <a:xfrm>
            <a:off x="457200" y="1428748"/>
            <a:ext cx="6025500" cy="31488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25" name="Google Shape;25;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6"/>
        <p:cNvGrpSpPr/>
        <p:nvPr/>
      </p:nvGrpSpPr>
      <p:grpSpPr>
        <a:xfrm>
          <a:off x="0" y="0"/>
          <a:ext cx="0" cy="0"/>
          <a:chOff x="0" y="0"/>
          <a:chExt cx="0" cy="0"/>
        </a:xfrm>
      </p:grpSpPr>
      <p:pic>
        <p:nvPicPr>
          <p:cNvPr id="27" name="Google Shape;27;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434575"/>
            <a:ext cx="6025500" cy="857400"/>
          </a:xfrm>
          <a:prstGeom prst="rect">
            <a:avLst/>
          </a:prstGeom>
        </p:spPr>
        <p:txBody>
          <a:bodyPr spcFirstLastPara="1" wrap="square" lIns="0" tIns="0" rIns="0" bIns="0"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9" name="Google Shape;29;p6"/>
          <p:cNvSpPr txBox="1">
            <a:spLocks noGrp="1"/>
          </p:cNvSpPr>
          <p:nvPr>
            <p:ph type="body" idx="1"/>
          </p:nvPr>
        </p:nvSpPr>
        <p:spPr>
          <a:xfrm>
            <a:off x="457200" y="1428750"/>
            <a:ext cx="2924700" cy="31536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0" name="Google Shape;30;p6"/>
          <p:cNvSpPr txBox="1">
            <a:spLocks noGrp="1"/>
          </p:cNvSpPr>
          <p:nvPr>
            <p:ph type="body" idx="2"/>
          </p:nvPr>
        </p:nvSpPr>
        <p:spPr>
          <a:xfrm>
            <a:off x="3558095" y="1428750"/>
            <a:ext cx="2924700" cy="31536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1" name="Google Shape;31;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pic>
        <p:nvPicPr>
          <p:cNvPr id="40" name="Google Shape;40;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1" name="Google Shape;41;p8"/>
          <p:cNvSpPr txBox="1">
            <a:spLocks noGrp="1"/>
          </p:cNvSpPr>
          <p:nvPr>
            <p:ph type="title"/>
          </p:nvPr>
        </p:nvSpPr>
        <p:spPr>
          <a:xfrm>
            <a:off x="457200" y="434575"/>
            <a:ext cx="6025500" cy="857400"/>
          </a:xfrm>
          <a:prstGeom prst="rect">
            <a:avLst/>
          </a:prstGeom>
        </p:spPr>
        <p:txBody>
          <a:bodyPr spcFirstLastPara="1" wrap="square" lIns="0" tIns="0" rIns="0" bIns="0"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42" name="Google Shape;42;p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pic>
        <p:nvPicPr>
          <p:cNvPr id="48" name="Google Shape;48;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49" name="Google Shape;49;p1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34575"/>
            <a:ext cx="6025500" cy="857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1pPr>
            <a:lvl2pPr lvl="1">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2pPr>
            <a:lvl3pPr lvl="2">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3pPr>
            <a:lvl4pPr lvl="3">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4pPr>
            <a:lvl5pPr lvl="4">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5pPr>
            <a:lvl6pPr lvl="5">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6pPr>
            <a:lvl7pPr lvl="6">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7pPr>
            <a:lvl8pPr lvl="7">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8pPr>
            <a:lvl9pPr lvl="8">
              <a:spcBef>
                <a:spcPts val="0"/>
              </a:spcBef>
              <a:spcAft>
                <a:spcPts val="0"/>
              </a:spcAft>
              <a:buClr>
                <a:schemeClr val="lt1"/>
              </a:buClr>
              <a:buSzPts val="3600"/>
              <a:buFont typeface="Titillium Web"/>
              <a:buNone/>
              <a:defRPr sz="3600" b="1">
                <a:solidFill>
                  <a:schemeClr val="lt1"/>
                </a:solidFill>
                <a:latin typeface="Titillium Web"/>
                <a:ea typeface="Titillium Web"/>
                <a:cs typeface="Titillium Web"/>
                <a:sym typeface="Titillium Web"/>
              </a:defRPr>
            </a:lvl9pPr>
          </a:lstStyle>
          <a:p>
            <a:endParaRPr/>
          </a:p>
        </p:txBody>
      </p:sp>
      <p:sp>
        <p:nvSpPr>
          <p:cNvPr id="7" name="Google Shape;7;p1"/>
          <p:cNvSpPr txBox="1">
            <a:spLocks noGrp="1"/>
          </p:cNvSpPr>
          <p:nvPr>
            <p:ph type="body" idx="1"/>
          </p:nvPr>
        </p:nvSpPr>
        <p:spPr>
          <a:xfrm>
            <a:off x="457200" y="1428748"/>
            <a:ext cx="6025500" cy="3148800"/>
          </a:xfrm>
          <a:prstGeom prst="rect">
            <a:avLst/>
          </a:prstGeom>
          <a:noFill/>
          <a:ln>
            <a:noFill/>
          </a:ln>
        </p:spPr>
        <p:txBody>
          <a:bodyPr spcFirstLastPara="1" wrap="square" lIns="0" tIns="0" rIns="0" bIns="0" anchor="t" anchorCtr="0">
            <a:noAutofit/>
          </a:bodyPr>
          <a:lstStyle>
            <a:lvl1pPr marL="457200" lvl="0" indent="-381000">
              <a:spcBef>
                <a:spcPts val="600"/>
              </a:spcBef>
              <a:spcAft>
                <a:spcPts val="0"/>
              </a:spcAft>
              <a:buClr>
                <a:srgbClr val="7DFFB1"/>
              </a:buClr>
              <a:buSzPts val="2400"/>
              <a:buFont typeface="Titillium Web Light"/>
              <a:buChar char="▰"/>
              <a:defRPr sz="2400">
                <a:solidFill>
                  <a:schemeClr val="lt1"/>
                </a:solidFill>
                <a:latin typeface="Titillium Web Light"/>
                <a:ea typeface="Titillium Web Light"/>
                <a:cs typeface="Titillium Web Light"/>
                <a:sym typeface="Titillium Web Light"/>
              </a:defRPr>
            </a:lvl1pPr>
            <a:lvl2pPr marL="914400" lvl="1"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lt1"/>
              </a:buClr>
              <a:buSzPts val="2400"/>
              <a:buFont typeface="Titillium Web Light"/>
              <a:buChar char="■"/>
              <a:defRPr sz="2400">
                <a:solidFill>
                  <a:schemeClr val="lt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a:buNone/>
              <a:defRPr sz="1300">
                <a:solidFill>
                  <a:srgbClr val="0037B3"/>
                </a:solidFill>
                <a:latin typeface="Titillium Web Light"/>
                <a:ea typeface="Titillium Web Light"/>
                <a:cs typeface="Titillium Web Light"/>
                <a:sym typeface="Titillium Web Light"/>
              </a:defRPr>
            </a:lvl1pPr>
            <a:lvl2pPr lvl="1" algn="r">
              <a:buNone/>
              <a:defRPr sz="1300">
                <a:solidFill>
                  <a:srgbClr val="0037B3"/>
                </a:solidFill>
                <a:latin typeface="Titillium Web Light"/>
                <a:ea typeface="Titillium Web Light"/>
                <a:cs typeface="Titillium Web Light"/>
                <a:sym typeface="Titillium Web Light"/>
              </a:defRPr>
            </a:lvl2pPr>
            <a:lvl3pPr lvl="2" algn="r">
              <a:buNone/>
              <a:defRPr sz="1300">
                <a:solidFill>
                  <a:srgbClr val="0037B3"/>
                </a:solidFill>
                <a:latin typeface="Titillium Web Light"/>
                <a:ea typeface="Titillium Web Light"/>
                <a:cs typeface="Titillium Web Light"/>
                <a:sym typeface="Titillium Web Light"/>
              </a:defRPr>
            </a:lvl3pPr>
            <a:lvl4pPr lvl="3" algn="r">
              <a:buNone/>
              <a:defRPr sz="1300">
                <a:solidFill>
                  <a:srgbClr val="0037B3"/>
                </a:solidFill>
                <a:latin typeface="Titillium Web Light"/>
                <a:ea typeface="Titillium Web Light"/>
                <a:cs typeface="Titillium Web Light"/>
                <a:sym typeface="Titillium Web Light"/>
              </a:defRPr>
            </a:lvl4pPr>
            <a:lvl5pPr lvl="4" algn="r">
              <a:buNone/>
              <a:defRPr sz="1300">
                <a:solidFill>
                  <a:srgbClr val="0037B3"/>
                </a:solidFill>
                <a:latin typeface="Titillium Web Light"/>
                <a:ea typeface="Titillium Web Light"/>
                <a:cs typeface="Titillium Web Light"/>
                <a:sym typeface="Titillium Web Light"/>
              </a:defRPr>
            </a:lvl5pPr>
            <a:lvl6pPr lvl="5" algn="r">
              <a:buNone/>
              <a:defRPr sz="1300">
                <a:solidFill>
                  <a:srgbClr val="0037B3"/>
                </a:solidFill>
                <a:latin typeface="Titillium Web Light"/>
                <a:ea typeface="Titillium Web Light"/>
                <a:cs typeface="Titillium Web Light"/>
                <a:sym typeface="Titillium Web Light"/>
              </a:defRPr>
            </a:lvl6pPr>
            <a:lvl7pPr lvl="6" algn="r">
              <a:buNone/>
              <a:defRPr sz="1300">
                <a:solidFill>
                  <a:srgbClr val="0037B3"/>
                </a:solidFill>
                <a:latin typeface="Titillium Web Light"/>
                <a:ea typeface="Titillium Web Light"/>
                <a:cs typeface="Titillium Web Light"/>
                <a:sym typeface="Titillium Web Light"/>
              </a:defRPr>
            </a:lvl7pPr>
            <a:lvl8pPr lvl="7" algn="r">
              <a:buNone/>
              <a:defRPr sz="1300">
                <a:solidFill>
                  <a:srgbClr val="0037B3"/>
                </a:solidFill>
                <a:latin typeface="Titillium Web Light"/>
                <a:ea typeface="Titillium Web Light"/>
                <a:cs typeface="Titillium Web Light"/>
                <a:sym typeface="Titillium Web Light"/>
              </a:defRPr>
            </a:lvl8pPr>
            <a:lvl9pPr lvl="8" algn="r">
              <a:buNone/>
              <a:defRPr sz="1300">
                <a:solidFill>
                  <a:srgbClr val="0037B3"/>
                </a:solidFill>
                <a:latin typeface="Titillium Web Light"/>
                <a:ea typeface="Titillium Web Light"/>
                <a:cs typeface="Titillium Web Light"/>
                <a:sym typeface="Titillium Web Light"/>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6"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2F0C35-FD13-9F89-135A-1975C740A51A}"/>
              </a:ext>
            </a:extLst>
          </p:cNvPr>
          <p:cNvSpPr>
            <a:spLocks noGrp="1"/>
          </p:cNvSpPr>
          <p:nvPr>
            <p:ph type="title"/>
          </p:nvPr>
        </p:nvSpPr>
        <p:spPr/>
        <p:txBody>
          <a:bodyPr/>
          <a:lstStyle/>
          <a:p>
            <a:endParaRPr lang="it-IT"/>
          </a:p>
        </p:txBody>
      </p:sp>
      <p:sp>
        <p:nvSpPr>
          <p:cNvPr id="3" name="Segnaposto numero diapositiva 2">
            <a:extLst>
              <a:ext uri="{FF2B5EF4-FFF2-40B4-BE49-F238E27FC236}">
                <a16:creationId xmlns:a16="http://schemas.microsoft.com/office/drawing/2014/main" id="{8E7FDFB5-22B5-D949-2C8F-2E3E05E96C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a:t>
            </a:fld>
            <a:endParaRPr lang="it-IT"/>
          </a:p>
        </p:txBody>
      </p:sp>
      <p:pic>
        <p:nvPicPr>
          <p:cNvPr id="5" name="Immagine 4" descr="Immagine che contiene schermata, cielo, web, stella&#10;&#10;Il contenuto generato dall'IA potrebbe non essere corretto.">
            <a:extLst>
              <a:ext uri="{FF2B5EF4-FFF2-40B4-BE49-F238E27FC236}">
                <a16:creationId xmlns:a16="http://schemas.microsoft.com/office/drawing/2014/main" id="{48087565-2545-B4CD-7232-88993AD5B735}"/>
              </a:ext>
            </a:extLst>
          </p:cNvPr>
          <p:cNvPicPr>
            <a:picLocks noChangeAspect="1"/>
          </p:cNvPicPr>
          <p:nvPr/>
        </p:nvPicPr>
        <p:blipFill>
          <a:blip r:embed="rId2"/>
          <a:stretch>
            <a:fillRect/>
          </a:stretch>
        </p:blipFill>
        <p:spPr>
          <a:xfrm>
            <a:off x="0" y="0"/>
            <a:ext cx="9144000" cy="5143500"/>
          </a:xfrm>
          <a:prstGeom prst="rect">
            <a:avLst/>
          </a:prstGeom>
        </p:spPr>
      </p:pic>
      <p:sp>
        <p:nvSpPr>
          <p:cNvPr id="6" name="Google Shape;54;p11">
            <a:extLst>
              <a:ext uri="{FF2B5EF4-FFF2-40B4-BE49-F238E27FC236}">
                <a16:creationId xmlns:a16="http://schemas.microsoft.com/office/drawing/2014/main" id="{EA2126CD-3711-2587-9C1E-D7C322E0DBFF}"/>
              </a:ext>
            </a:extLst>
          </p:cNvPr>
          <p:cNvSpPr txBox="1">
            <a:spLocks/>
          </p:cNvSpPr>
          <p:nvPr/>
        </p:nvSpPr>
        <p:spPr>
          <a:xfrm>
            <a:off x="457200" y="379094"/>
            <a:ext cx="8229600" cy="2687905"/>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3600"/>
              <a:buFont typeface="Titillium Web"/>
              <a:buNone/>
              <a:defRPr sz="3600" b="1" i="0" u="none" strike="noStrike" cap="none">
                <a:solidFill>
                  <a:schemeClr val="lt1"/>
                </a:solidFill>
                <a:latin typeface="Titillium Web"/>
                <a:ea typeface="Titillium Web"/>
                <a:cs typeface="Titillium Web"/>
                <a:sym typeface="Titillium Web"/>
              </a:defRPr>
            </a:lvl9pPr>
          </a:lstStyle>
          <a:p>
            <a:pPr>
              <a:lnSpc>
                <a:spcPct val="90000"/>
              </a:lnSpc>
            </a:pPr>
            <a:r>
              <a:rPr lang="it-IT" sz="3000" dirty="0"/>
              <a:t>GENERAZIONE DI MAPPE 3D E VISTE VIRTUALI DA DATI LIDAR: </a:t>
            </a:r>
          </a:p>
          <a:p>
            <a:pPr>
              <a:lnSpc>
                <a:spcPct val="90000"/>
              </a:lnSpc>
            </a:pPr>
            <a:r>
              <a:rPr lang="it-IT" sz="3000" dirty="0"/>
              <a:t>UN APPROCCIO PRATICO CON KISS-ICP E PCL</a:t>
            </a:r>
            <a:br>
              <a:rPr lang="it-IT" sz="3000" dirty="0"/>
            </a:br>
            <a:br>
              <a:rPr lang="it-IT" sz="3000" dirty="0"/>
            </a:br>
            <a:r>
              <a:rPr lang="it-IT" sz="3000" dirty="0"/>
              <a:t>UTILIZZO DI OPEN3D PER IL SUPERAMENTO DELLE LIMITAZIONI DI ESPORTAZIONE IN KISS-ICP</a:t>
            </a:r>
          </a:p>
        </p:txBody>
      </p:sp>
      <p:sp>
        <p:nvSpPr>
          <p:cNvPr id="7" name="CasellaDiTesto 6">
            <a:extLst>
              <a:ext uri="{FF2B5EF4-FFF2-40B4-BE49-F238E27FC236}">
                <a16:creationId xmlns:a16="http://schemas.microsoft.com/office/drawing/2014/main" id="{30A8ADA4-17D3-CCB2-9F05-6DE128FE9C12}"/>
              </a:ext>
            </a:extLst>
          </p:cNvPr>
          <p:cNvSpPr txBox="1"/>
          <p:nvPr/>
        </p:nvSpPr>
        <p:spPr>
          <a:xfrm>
            <a:off x="6928624" y="4072052"/>
            <a:ext cx="2111422" cy="923330"/>
          </a:xfrm>
          <a:prstGeom prst="rect">
            <a:avLst/>
          </a:prstGeom>
          <a:noFill/>
        </p:spPr>
        <p:txBody>
          <a:bodyPr wrap="square" rtlCol="0">
            <a:spAutoFit/>
          </a:bodyPr>
          <a:lstStyle/>
          <a:p>
            <a:pPr algn="r">
              <a:spcAft>
                <a:spcPts val="600"/>
              </a:spcAft>
            </a:pPr>
            <a:r>
              <a:rPr lang="it-IT" sz="1800" b="1" dirty="0">
                <a:solidFill>
                  <a:schemeClr val="tx1">
                    <a:lumMod val="85000"/>
                    <a:lumOff val="15000"/>
                  </a:schemeClr>
                </a:solidFill>
                <a:latin typeface="Titillium Web" panose="00000500000000000000" pitchFamily="2" charset="0"/>
              </a:rPr>
              <a:t>GAROZZO VALERIO MIHAL VLAD MOINI FEDERICA</a:t>
            </a:r>
          </a:p>
        </p:txBody>
      </p:sp>
    </p:spTree>
    <p:extLst>
      <p:ext uri="{BB962C8B-B14F-4D97-AF65-F5344CB8AC3E}">
        <p14:creationId xmlns:p14="http://schemas.microsoft.com/office/powerpoint/2010/main" val="1853995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gradFill>
        <a:effectLst/>
      </p:bgPr>
    </p:bg>
    <p:spTree>
      <p:nvGrpSpPr>
        <p:cNvPr id="1" name="Shape 58"/>
        <p:cNvGrpSpPr/>
        <p:nvPr/>
      </p:nvGrpSpPr>
      <p:grpSpPr>
        <a:xfrm>
          <a:off x="0" y="0"/>
          <a:ext cx="0" cy="0"/>
          <a:chOff x="0" y="0"/>
          <a:chExt cx="0" cy="0"/>
        </a:xfrm>
      </p:grpSpPr>
      <p:sp>
        <p:nvSpPr>
          <p:cNvPr id="63" name="Google Shape;63;p1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4" name="Titolo 3">
            <a:extLst>
              <a:ext uri="{FF2B5EF4-FFF2-40B4-BE49-F238E27FC236}">
                <a16:creationId xmlns:a16="http://schemas.microsoft.com/office/drawing/2014/main" id="{E3084EE3-2FE9-6AB6-0F78-B5053B6BC2AC}"/>
              </a:ext>
            </a:extLst>
          </p:cNvPr>
          <p:cNvSpPr>
            <a:spLocks noGrp="1"/>
          </p:cNvSpPr>
          <p:nvPr>
            <p:ph type="title"/>
          </p:nvPr>
        </p:nvSpPr>
        <p:spPr/>
        <p:txBody>
          <a:bodyPr/>
          <a:lstStyle/>
          <a:p>
            <a:r>
              <a:rPr lang="it-IT" dirty="0"/>
              <a:t>Obiettivi</a:t>
            </a:r>
          </a:p>
        </p:txBody>
      </p:sp>
      <p:sp>
        <p:nvSpPr>
          <p:cNvPr id="6" name="CasellaDiTesto 5">
            <a:extLst>
              <a:ext uri="{FF2B5EF4-FFF2-40B4-BE49-F238E27FC236}">
                <a16:creationId xmlns:a16="http://schemas.microsoft.com/office/drawing/2014/main" id="{4BBBE51B-408C-BAAE-E374-311394652C20}"/>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
        <p:nvSpPr>
          <p:cNvPr id="9" name="Google Shape;82;p15">
            <a:extLst>
              <a:ext uri="{FF2B5EF4-FFF2-40B4-BE49-F238E27FC236}">
                <a16:creationId xmlns:a16="http://schemas.microsoft.com/office/drawing/2014/main" id="{A9F6B2BF-C19E-C978-C898-4A5A6684E235}"/>
              </a:ext>
            </a:extLst>
          </p:cNvPr>
          <p:cNvSpPr txBox="1">
            <a:spLocks noGrp="1"/>
          </p:cNvSpPr>
          <p:nvPr>
            <p:ph type="body" idx="1"/>
          </p:nvPr>
        </p:nvSpPr>
        <p:spPr>
          <a:xfrm>
            <a:off x="457200" y="1496195"/>
            <a:ext cx="8285356" cy="2615427"/>
          </a:xfrm>
          <a:prstGeom prst="rect">
            <a:avLst/>
          </a:prstGeom>
        </p:spPr>
        <p:txBody>
          <a:bodyPr spcFirstLastPara="1" wrap="square" lIns="0" tIns="0" rIns="0" bIns="0" anchor="t" anchorCtr="0">
            <a:noAutofit/>
          </a:bodyPr>
          <a:lstStyle/>
          <a:p>
            <a:pPr marL="342900" indent="-342900">
              <a:buFont typeface="Wingdings" panose="05000000000000000000" pitchFamily="2" charset="2"/>
              <a:buChar char="v"/>
            </a:pPr>
            <a:r>
              <a:rPr lang="it-IT" sz="2100" b="1" dirty="0">
                <a:latin typeface="Titillium Web" panose="00000500000000000000" pitchFamily="2" charset="0"/>
              </a:rPr>
              <a:t>Obiettivo 1 (Mapping):</a:t>
            </a:r>
            <a:r>
              <a:rPr lang="it-IT" sz="2100" dirty="0">
                <a:latin typeface="Titillium Web" panose="00000500000000000000" pitchFamily="2" charset="0"/>
              </a:rPr>
              <a:t> </a:t>
            </a:r>
            <a:r>
              <a:rPr lang="it-IT" altLang="it-IT" sz="2100" dirty="0">
                <a:solidFill>
                  <a:schemeClr val="bg1"/>
                </a:solidFill>
                <a:latin typeface="Titillium Web" panose="00000500000000000000" pitchFamily="2" charset="0"/>
              </a:rPr>
              <a:t>Costruire una mappa globale 3D </a:t>
            </a:r>
            <a:br>
              <a:rPr lang="it-IT" altLang="it-IT" sz="2100" dirty="0">
                <a:solidFill>
                  <a:schemeClr val="bg1"/>
                </a:solidFill>
                <a:latin typeface="Titillium Web" panose="00000500000000000000" pitchFamily="2" charset="0"/>
              </a:rPr>
            </a:br>
            <a:r>
              <a:rPr lang="it-IT" altLang="it-IT" sz="2100" dirty="0">
                <a:solidFill>
                  <a:schemeClr val="bg1"/>
                </a:solidFill>
                <a:latin typeface="Titillium Web" panose="00000500000000000000" pitchFamily="2" charset="0"/>
              </a:rPr>
              <a:t>(</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err="1">
                <a:solidFill>
                  <a:schemeClr val="bg1"/>
                </a:solidFill>
                <a:latin typeface="Courier New" panose="02070309020205020404" pitchFamily="49" charset="0"/>
                <a:cs typeface="Courier New" panose="02070309020205020404" pitchFamily="49" charset="0"/>
              </a:rPr>
              <a:t>pcd</a:t>
            </a:r>
            <a:r>
              <a:rPr lang="it-IT" altLang="it-IT" sz="2100" dirty="0">
                <a:solidFill>
                  <a:schemeClr val="bg1"/>
                </a:solidFill>
                <a:latin typeface="Titillium Web" panose="00000500000000000000" pitchFamily="2" charset="0"/>
              </a:rPr>
              <a:t>) e stimare la traiettoria (</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err="1">
                <a:solidFill>
                  <a:schemeClr val="bg1"/>
                </a:solidFill>
                <a:latin typeface="Courier New" panose="02070309020205020404" pitchFamily="49" charset="0"/>
                <a:cs typeface="Courier New" panose="02070309020205020404" pitchFamily="49" charset="0"/>
              </a:rPr>
              <a:t>txt</a:t>
            </a:r>
            <a:r>
              <a:rPr lang="it-IT" altLang="it-IT" sz="2100" dirty="0">
                <a:solidFill>
                  <a:schemeClr val="bg1"/>
                </a:solidFill>
                <a:latin typeface="Titillium Web" panose="00000500000000000000" pitchFamily="2" charset="0"/>
              </a:rPr>
              <a:t>) partendo da scansioni grezze (</a:t>
            </a:r>
            <a:r>
              <a:rPr lang="it-IT" altLang="it-IT" sz="2100" dirty="0">
                <a:solidFill>
                  <a:schemeClr val="bg1"/>
                </a:solidFill>
                <a:latin typeface="Courier New" panose="02070309020205020404" pitchFamily="49" charset="0"/>
                <a:cs typeface="Courier New" panose="02070309020205020404" pitchFamily="49" charset="0"/>
              </a:rPr>
              <a:t>.bin</a:t>
            </a:r>
            <a:r>
              <a:rPr lang="it-IT" altLang="it-IT" sz="2100" dirty="0">
                <a:solidFill>
                  <a:schemeClr val="bg1"/>
                </a:solidFill>
                <a:latin typeface="Titillium Web" panose="00000500000000000000" pitchFamily="2" charset="0"/>
              </a:rPr>
              <a:t>), senza </a:t>
            </a:r>
            <a:r>
              <a:rPr lang="it-IT" altLang="it-IT" sz="2100" dirty="0" err="1">
                <a:solidFill>
                  <a:schemeClr val="bg1"/>
                </a:solidFill>
                <a:latin typeface="Titillium Web" panose="00000500000000000000" pitchFamily="2" charset="0"/>
              </a:rPr>
              <a:t>odometria</a:t>
            </a:r>
            <a:r>
              <a:rPr lang="it-IT" altLang="it-IT" sz="2100" dirty="0">
                <a:solidFill>
                  <a:schemeClr val="bg1"/>
                </a:solidFill>
                <a:latin typeface="Titillium Web" panose="00000500000000000000" pitchFamily="2" charset="0"/>
              </a:rPr>
              <a:t> iniziale.</a:t>
            </a:r>
          </a:p>
          <a:p>
            <a:pPr marL="342900" indent="-342900">
              <a:buFont typeface="Wingdings" panose="05000000000000000000" pitchFamily="2" charset="2"/>
              <a:buChar char="v"/>
            </a:pPr>
            <a:r>
              <a:rPr lang="it-IT" sz="2100" b="1" dirty="0">
                <a:latin typeface="Titillium Web" panose="00000500000000000000" pitchFamily="2" charset="0"/>
              </a:rPr>
              <a:t>Obiettivo 2 (Virtual </a:t>
            </a:r>
            <a:r>
              <a:rPr lang="it-IT" sz="2100" b="1" dirty="0" err="1">
                <a:latin typeface="Titillium Web" panose="00000500000000000000" pitchFamily="2" charset="0"/>
              </a:rPr>
              <a:t>Scan</a:t>
            </a:r>
            <a:r>
              <a:rPr lang="it-IT" sz="2100" b="1" dirty="0">
                <a:latin typeface="Titillium Web" panose="00000500000000000000" pitchFamily="2" charset="0"/>
              </a:rPr>
              <a:t>):</a:t>
            </a:r>
            <a:r>
              <a:rPr lang="it-IT" sz="2100" dirty="0">
                <a:latin typeface="Titillium Web" panose="00000500000000000000" pitchFamily="2" charset="0"/>
              </a:rPr>
              <a:t> </a:t>
            </a:r>
            <a:r>
              <a:rPr lang="it-IT" altLang="it-IT" sz="2100" dirty="0">
                <a:solidFill>
                  <a:schemeClr val="bg1"/>
                </a:solidFill>
                <a:latin typeface="Titillium Web" panose="00000500000000000000" pitchFamily="2" charset="0"/>
              </a:rPr>
              <a:t>Simulare una scansione </a:t>
            </a:r>
            <a:r>
              <a:rPr lang="it-IT" altLang="it-IT" sz="2100" dirty="0" err="1">
                <a:solidFill>
                  <a:schemeClr val="bg1"/>
                </a:solidFill>
                <a:latin typeface="Titillium Web" panose="00000500000000000000" pitchFamily="2" charset="0"/>
              </a:rPr>
              <a:t>LiDAR</a:t>
            </a:r>
            <a:r>
              <a:rPr lang="it-IT" altLang="it-IT" sz="2100" dirty="0">
                <a:solidFill>
                  <a:schemeClr val="bg1"/>
                </a:solidFill>
                <a:latin typeface="Titillium Web" panose="00000500000000000000" pitchFamily="2" charset="0"/>
              </a:rPr>
              <a:t> parziale da una posa arbitraria all'interno della mappa generata.</a:t>
            </a:r>
          </a:p>
          <a:p>
            <a:pPr marL="342900" indent="-342900">
              <a:buFont typeface="Wingdings" panose="05000000000000000000" pitchFamily="2" charset="2"/>
              <a:buChar char="v"/>
            </a:pPr>
            <a:r>
              <a:rPr lang="it-IT" sz="2100" b="1" dirty="0">
                <a:latin typeface="Titillium Web" panose="00000500000000000000" pitchFamily="2" charset="0"/>
              </a:rPr>
              <a:t>Scopo Ultimo:</a:t>
            </a:r>
            <a:r>
              <a:rPr lang="it-IT" sz="2100" dirty="0">
                <a:latin typeface="Titillium Web" panose="00000500000000000000" pitchFamily="2" charset="0"/>
              </a:rPr>
              <a:t> </a:t>
            </a:r>
            <a:r>
              <a:rPr lang="it-IT" altLang="it-IT" sz="2100" dirty="0">
                <a:solidFill>
                  <a:schemeClr val="bg1"/>
                </a:solidFill>
                <a:latin typeface="Titillium Web" panose="00000500000000000000" pitchFamily="2" charset="0"/>
              </a:rPr>
              <a:t>Verificare l'utilizzabilità della mappa generata per algoritmi di localizzazione basati su scansione.</a:t>
            </a:r>
            <a:br>
              <a:rPr lang="it-IT" altLang="it-IT" dirty="0">
                <a:solidFill>
                  <a:schemeClr val="bg1"/>
                </a:solidFill>
                <a:latin typeface="Titillium Web" panose="00000500000000000000" pitchFamily="2" charset="0"/>
              </a:rPr>
            </a:br>
            <a:endParaRPr lang="it-IT" sz="2000" dirty="0">
              <a:latin typeface="Titillium Web"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4" name="Titolo 3">
            <a:extLst>
              <a:ext uri="{FF2B5EF4-FFF2-40B4-BE49-F238E27FC236}">
                <a16:creationId xmlns:a16="http://schemas.microsoft.com/office/drawing/2014/main" id="{8D352C44-0CF7-15B9-E281-056883066D5C}"/>
              </a:ext>
            </a:extLst>
          </p:cNvPr>
          <p:cNvSpPr txBox="1">
            <a:spLocks/>
          </p:cNvSpPr>
          <p:nvPr/>
        </p:nvSpPr>
        <p:spPr>
          <a:xfrm>
            <a:off x="457200" y="434575"/>
            <a:ext cx="60255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Dataset e Preparazione</a:t>
            </a:r>
          </a:p>
        </p:txBody>
      </p:sp>
      <p:sp>
        <p:nvSpPr>
          <p:cNvPr id="7" name="Google Shape;82;p15">
            <a:extLst>
              <a:ext uri="{FF2B5EF4-FFF2-40B4-BE49-F238E27FC236}">
                <a16:creationId xmlns:a16="http://schemas.microsoft.com/office/drawing/2014/main" id="{FA8563FE-0915-7BA1-EC12-6F046E4321FD}"/>
              </a:ext>
            </a:extLst>
          </p:cNvPr>
          <p:cNvSpPr txBox="1">
            <a:spLocks/>
          </p:cNvSpPr>
          <p:nvPr/>
        </p:nvSpPr>
        <p:spPr>
          <a:xfrm>
            <a:off x="457200" y="1580501"/>
            <a:ext cx="8285356" cy="297204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0"/>
              </a:spcBef>
              <a:spcAft>
                <a:spcPts val="0"/>
              </a:spcAft>
              <a:buClr>
                <a:srgbClr val="7DFFB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lt1"/>
              </a:buClr>
              <a:buSzPts val="2400"/>
              <a:buFont typeface="Titillium Web Light"/>
              <a:buNone/>
              <a:defRPr sz="2400" b="0" i="0" u="none" strike="noStrike" cap="none">
                <a:solidFill>
                  <a:schemeClr val="lt1"/>
                </a:solidFill>
                <a:latin typeface="Titillium Web Light"/>
                <a:ea typeface="Titillium Web Light"/>
                <a:cs typeface="Titillium Web Light"/>
                <a:sym typeface="Titillium Web Light"/>
              </a:defRPr>
            </a:lvl9pPr>
          </a:lstStyle>
          <a:p>
            <a:pPr>
              <a:buFont typeface="Wingdings" panose="05000000000000000000" pitchFamily="2" charset="2"/>
              <a:buChar char="v"/>
            </a:pPr>
            <a:r>
              <a:rPr lang="it-IT" sz="2100" b="1" dirty="0">
                <a:latin typeface="Titillium Web" panose="00000500000000000000" pitchFamily="2" charset="0"/>
              </a:rPr>
              <a:t>Dataset:</a:t>
            </a:r>
            <a:r>
              <a:rPr lang="it-IT" sz="2100" dirty="0">
                <a:latin typeface="Titillium Web" panose="00000500000000000000" pitchFamily="2" charset="0"/>
              </a:rPr>
              <a:t> </a:t>
            </a:r>
            <a:r>
              <a:rPr lang="it-IT" altLang="it-IT" sz="2100" dirty="0">
                <a:solidFill>
                  <a:schemeClr val="bg1"/>
                </a:solidFill>
                <a:latin typeface="Titillium Web" panose="00000500000000000000" pitchFamily="2" charset="0"/>
              </a:rPr>
              <a:t>Sequenze </a:t>
            </a:r>
            <a:r>
              <a:rPr lang="it-IT" altLang="it-IT" sz="2100" dirty="0">
                <a:solidFill>
                  <a:schemeClr val="bg1"/>
                </a:solidFill>
                <a:latin typeface="Courier New" panose="02070309020205020404" pitchFamily="49" charset="0"/>
                <a:cs typeface="Courier New" panose="02070309020205020404" pitchFamily="49" charset="0"/>
              </a:rPr>
              <a:t>unipr_dia_00 </a:t>
            </a:r>
            <a:r>
              <a:rPr lang="it-IT" altLang="it-IT" sz="2100" dirty="0">
                <a:solidFill>
                  <a:schemeClr val="bg1"/>
                </a:solidFill>
                <a:latin typeface="Titillium Web" panose="00000500000000000000" pitchFamily="2" charset="0"/>
              </a:rPr>
              <a:t>e </a:t>
            </a:r>
            <a:br>
              <a:rPr lang="it-IT" altLang="it-IT" sz="2100" dirty="0">
                <a:solidFill>
                  <a:schemeClr val="bg1"/>
                </a:solidFill>
                <a:latin typeface="Titillium Web" panose="00000500000000000000" pitchFamily="2" charset="0"/>
              </a:rPr>
            </a:br>
            <a:r>
              <a:rPr lang="it-IT" altLang="it-IT" sz="2100" dirty="0">
                <a:solidFill>
                  <a:schemeClr val="bg1"/>
                </a:solidFill>
                <a:latin typeface="Courier New" panose="02070309020205020404" pitchFamily="49" charset="0"/>
                <a:cs typeface="Courier New" panose="02070309020205020404" pitchFamily="49" charset="0"/>
              </a:rPr>
              <a:t>unipr_dia_01</a:t>
            </a:r>
            <a:r>
              <a:rPr lang="it-IT" altLang="it-IT" sz="2100" dirty="0">
                <a:solidFill>
                  <a:schemeClr val="bg1"/>
                </a:solidFill>
                <a:latin typeface="Titillium Web" panose="00000500000000000000" pitchFamily="2" charset="0"/>
              </a:rPr>
              <a:t>(acquisite nel corridoio della </a:t>
            </a:r>
            <a:br>
              <a:rPr lang="it-IT" altLang="it-IT" sz="2100" dirty="0">
                <a:solidFill>
                  <a:schemeClr val="bg1"/>
                </a:solidFill>
                <a:latin typeface="Titillium Web" panose="00000500000000000000" pitchFamily="2" charset="0"/>
              </a:rPr>
            </a:br>
            <a:r>
              <a:rPr lang="it-IT" altLang="it-IT" sz="2100" dirty="0">
                <a:solidFill>
                  <a:schemeClr val="bg1"/>
                </a:solidFill>
                <a:latin typeface="Titillium Web" panose="00000500000000000000" pitchFamily="2" charset="0"/>
              </a:rPr>
              <a:t>sede scientifica di Ingegneria).</a:t>
            </a:r>
          </a:p>
          <a:p>
            <a:pPr marL="76200" indent="0"/>
            <a:endParaRPr lang="it-IT" altLang="it-IT" sz="2100" dirty="0">
              <a:solidFill>
                <a:schemeClr val="bg1"/>
              </a:solidFill>
              <a:latin typeface="Titillium Web" panose="00000500000000000000" pitchFamily="2" charset="0"/>
            </a:endParaRPr>
          </a:p>
          <a:p>
            <a:pPr>
              <a:buFont typeface="Wingdings" panose="05000000000000000000" pitchFamily="2" charset="2"/>
              <a:buChar char="v"/>
            </a:pPr>
            <a:r>
              <a:rPr lang="it-IT" sz="2100" b="1" dirty="0">
                <a:latin typeface="Titillium Web" panose="00000500000000000000" pitchFamily="2" charset="0"/>
              </a:rPr>
              <a:t>Formato:</a:t>
            </a:r>
            <a:r>
              <a:rPr lang="it-IT" sz="2100" dirty="0">
                <a:latin typeface="Titillium Web" panose="00000500000000000000" pitchFamily="2" charset="0"/>
              </a:rPr>
              <a:t> </a:t>
            </a:r>
            <a:r>
              <a:rPr lang="it-IT" altLang="it-IT" sz="2100" dirty="0">
                <a:solidFill>
                  <a:schemeClr val="bg1"/>
                </a:solidFill>
                <a:latin typeface="Titillium Web" panose="00000500000000000000" pitchFamily="2" charset="0"/>
              </a:rPr>
              <a:t>Struttura ‘’KITTI-like’’ (cartella </a:t>
            </a:r>
            <a:r>
              <a:rPr lang="it-IT" altLang="it-IT" sz="2100" dirty="0" err="1">
                <a:solidFill>
                  <a:schemeClr val="bg1"/>
                </a:solidFill>
                <a:latin typeface="Titillium Web" panose="00000500000000000000" pitchFamily="2" charset="0"/>
              </a:rPr>
              <a:t>velodyne</a:t>
            </a:r>
            <a:r>
              <a:rPr lang="it-IT" altLang="it-IT" sz="2100" dirty="0">
                <a:solidFill>
                  <a:schemeClr val="bg1"/>
                </a:solidFill>
                <a:latin typeface="Titillium Web" panose="00000500000000000000" pitchFamily="2" charset="0"/>
              </a:rPr>
              <a:t> con file binari XYZI).</a:t>
            </a:r>
            <a:br>
              <a:rPr lang="it-IT" altLang="it-IT" sz="2100" dirty="0">
                <a:solidFill>
                  <a:schemeClr val="bg1"/>
                </a:solidFill>
                <a:latin typeface="Titillium Web" panose="00000500000000000000" pitchFamily="2" charset="0"/>
              </a:rPr>
            </a:br>
            <a:r>
              <a:rPr lang="it-IT" altLang="it-IT" sz="2100" dirty="0">
                <a:solidFill>
                  <a:schemeClr val="bg1"/>
                </a:solidFill>
                <a:latin typeface="Titillium Web" panose="00000500000000000000" pitchFamily="2" charset="0"/>
              </a:rPr>
              <a:t>(</a:t>
            </a:r>
            <a:r>
              <a:rPr lang="it-IT" altLang="it-IT" sz="2100" dirty="0" err="1">
                <a:solidFill>
                  <a:schemeClr val="bg1"/>
                </a:solidFill>
                <a:latin typeface="Titillium Web" panose="00000500000000000000" pitchFamily="2" charset="0"/>
              </a:rPr>
              <a:t>unipr_dia</a:t>
            </a:r>
            <a:r>
              <a:rPr lang="it-IT" altLang="it-IT" sz="2100" dirty="0">
                <a:solidFill>
                  <a:schemeClr val="bg1"/>
                </a:solidFill>
                <a:latin typeface="Titillium Web" panose="00000500000000000000" pitchFamily="2" charset="0"/>
              </a:rPr>
              <a:t> -&gt; 00 -&gt; </a:t>
            </a:r>
            <a:r>
              <a:rPr lang="it-IT" altLang="it-IT" sz="2100" dirty="0" err="1">
                <a:solidFill>
                  <a:schemeClr val="bg1"/>
                </a:solidFill>
                <a:latin typeface="Titillium Web" panose="00000500000000000000" pitchFamily="2" charset="0"/>
              </a:rPr>
              <a:t>velodyne</a:t>
            </a:r>
            <a:r>
              <a:rPr lang="it-IT" altLang="it-IT" sz="2100" dirty="0">
                <a:solidFill>
                  <a:schemeClr val="bg1"/>
                </a:solidFill>
                <a:latin typeface="Titillium Web" panose="00000500000000000000" pitchFamily="2" charset="0"/>
              </a:rPr>
              <a:t>).</a:t>
            </a:r>
          </a:p>
          <a:p>
            <a:endParaRPr lang="it-IT" sz="2100" dirty="0">
              <a:latin typeface="Titillium Web" panose="00000500000000000000" pitchFamily="2" charset="0"/>
            </a:endParaRPr>
          </a:p>
          <a:p>
            <a:pPr>
              <a:buFont typeface="Wingdings" panose="05000000000000000000" pitchFamily="2" charset="2"/>
              <a:buChar char="v"/>
            </a:pPr>
            <a:r>
              <a:rPr lang="it-IT" sz="2100" b="1" dirty="0">
                <a:latin typeface="Titillium Web" panose="00000500000000000000" pitchFamily="2" charset="0"/>
              </a:rPr>
              <a:t>Preparazione:</a:t>
            </a:r>
            <a:r>
              <a:rPr lang="it-IT" sz="2100" dirty="0">
                <a:latin typeface="Titillium Web" panose="00000500000000000000" pitchFamily="2" charset="0"/>
              </a:rPr>
              <a:t> </a:t>
            </a:r>
            <a:r>
              <a:rPr lang="it-IT" altLang="it-IT" sz="2100" dirty="0">
                <a:solidFill>
                  <a:schemeClr val="bg1"/>
                </a:solidFill>
                <a:latin typeface="Titillium Web" panose="00000500000000000000" pitchFamily="2" charset="0"/>
              </a:rPr>
              <a:t>Organizzazione della gerarchia delle directory per la compatibilità con i tool di mapping.</a:t>
            </a:r>
            <a:endParaRPr lang="it-IT" sz="2100" dirty="0">
              <a:latin typeface="Titillium Web" panose="00000500000000000000" pitchFamily="2" charset="0"/>
            </a:endParaRPr>
          </a:p>
        </p:txBody>
      </p:sp>
      <p:sp>
        <p:nvSpPr>
          <p:cNvPr id="9" name="CasellaDiTesto 8">
            <a:extLst>
              <a:ext uri="{FF2B5EF4-FFF2-40B4-BE49-F238E27FC236}">
                <a16:creationId xmlns:a16="http://schemas.microsoft.com/office/drawing/2014/main" id="{57067ECD-3630-0AA1-5A2C-A7D460342CCF}"/>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2" name="Google Shape;82;p15"/>
          <p:cNvSpPr txBox="1">
            <a:spLocks noGrp="1"/>
          </p:cNvSpPr>
          <p:nvPr>
            <p:ph type="body" idx="1"/>
          </p:nvPr>
        </p:nvSpPr>
        <p:spPr>
          <a:xfrm>
            <a:off x="457200" y="1502680"/>
            <a:ext cx="8285356" cy="3036894"/>
          </a:xfrm>
          <a:prstGeom prst="rect">
            <a:avLst/>
          </a:prstGeom>
        </p:spPr>
        <p:txBody>
          <a:bodyPr spcFirstLastPara="1" wrap="square" lIns="0" tIns="0" rIns="0" bIns="0" anchor="t" anchorCtr="0">
            <a:noAutofit/>
          </a:bodyPr>
          <a:lstStyle/>
          <a:p>
            <a:pPr>
              <a:buFont typeface="Wingdings" panose="05000000000000000000" pitchFamily="2" charset="2"/>
              <a:buChar char="v"/>
            </a:pPr>
            <a:r>
              <a:rPr lang="it-IT" sz="2100" b="1" dirty="0">
                <a:latin typeface="Titillium Web" panose="00000500000000000000" pitchFamily="2" charset="0"/>
              </a:rPr>
              <a:t>Approccio Iniziale:</a:t>
            </a:r>
            <a:r>
              <a:rPr lang="it-IT" sz="2100" dirty="0">
                <a:latin typeface="Titillium Web" panose="00000500000000000000" pitchFamily="2" charset="0"/>
              </a:rPr>
              <a:t> Utilizzo di </a:t>
            </a:r>
            <a:r>
              <a:rPr lang="it-IT" sz="2100" dirty="0" err="1">
                <a:latin typeface="Courier New" panose="02070309020205020404" pitchFamily="49" charset="0"/>
                <a:cs typeface="Courier New" panose="02070309020205020404" pitchFamily="49" charset="0"/>
              </a:rPr>
              <a:t>kiss_icp_pipeline</a:t>
            </a:r>
            <a:r>
              <a:rPr lang="it-IT" sz="2100" dirty="0">
                <a:latin typeface="Titillium Web" panose="00000500000000000000" pitchFamily="2" charset="0"/>
              </a:rPr>
              <a:t> da riga di comando.</a:t>
            </a:r>
          </a:p>
          <a:p>
            <a:endParaRPr lang="it-IT" sz="2100" dirty="0">
              <a:latin typeface="Titillium Web" panose="00000500000000000000" pitchFamily="2" charset="0"/>
            </a:endParaRPr>
          </a:p>
          <a:p>
            <a:pPr>
              <a:buFont typeface="Wingdings" panose="05000000000000000000" pitchFamily="2" charset="2"/>
              <a:buChar char="v"/>
            </a:pPr>
            <a:r>
              <a:rPr lang="it-IT" sz="2100" b="1" dirty="0">
                <a:latin typeface="Titillium Web" panose="00000500000000000000" pitchFamily="2" charset="0"/>
              </a:rPr>
              <a:t>Problema:</a:t>
            </a:r>
            <a:r>
              <a:rPr lang="it-IT" sz="2100" dirty="0">
                <a:latin typeface="Titillium Web" panose="00000500000000000000" pitchFamily="2" charset="0"/>
              </a:rPr>
              <a:t> Il tool salvava correttamente le pose (traiettoria), ma non supportava il salvataggio della mappa 3D globale (</a:t>
            </a:r>
            <a:r>
              <a:rPr lang="it-IT" sz="2100" dirty="0">
                <a:latin typeface="Courier New" panose="02070309020205020404" pitchFamily="49" charset="0"/>
                <a:cs typeface="Courier New" panose="02070309020205020404" pitchFamily="49" charset="0"/>
              </a:rPr>
              <a:t>.</a:t>
            </a:r>
            <a:r>
              <a:rPr lang="it-IT" sz="2100" dirty="0" err="1">
                <a:latin typeface="Courier New" panose="02070309020205020404" pitchFamily="49" charset="0"/>
                <a:cs typeface="Courier New" panose="02070309020205020404" pitchFamily="49" charset="0"/>
              </a:rPr>
              <a:t>pcd</a:t>
            </a:r>
            <a:r>
              <a:rPr lang="it-IT" sz="2100" dirty="0">
                <a:latin typeface="Titillium Web" panose="00000500000000000000" pitchFamily="2" charset="0"/>
              </a:rPr>
              <a:t>).</a:t>
            </a:r>
          </a:p>
          <a:p>
            <a:endParaRPr lang="it-IT" sz="2100" dirty="0">
              <a:latin typeface="Titillium Web" panose="00000500000000000000" pitchFamily="2" charset="0"/>
            </a:endParaRPr>
          </a:p>
          <a:p>
            <a:pPr>
              <a:buFont typeface="Wingdings" panose="05000000000000000000" pitchFamily="2" charset="2"/>
              <a:buChar char="v"/>
            </a:pPr>
            <a:r>
              <a:rPr lang="it-IT" sz="2100" b="1" dirty="0">
                <a:latin typeface="Titillium Web" panose="00000500000000000000" pitchFamily="2" charset="0"/>
              </a:rPr>
              <a:t>Soluzione:</a:t>
            </a:r>
            <a:r>
              <a:rPr lang="it-IT" sz="2100" dirty="0">
                <a:latin typeface="Titillium Web" panose="00000500000000000000" pitchFamily="2" charset="0"/>
              </a:rPr>
              <a:t> Sviluppo di uno script Python personalizzato (run_kiss.py) per utilizzare Kiss-ICP come libreria e accedere alle funzioni interne.</a:t>
            </a:r>
          </a:p>
        </p:txBody>
      </p:sp>
      <p:sp>
        <p:nvSpPr>
          <p:cNvPr id="83" name="Google Shape;83;p1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3" name="Titolo 3">
            <a:extLst>
              <a:ext uri="{FF2B5EF4-FFF2-40B4-BE49-F238E27FC236}">
                <a16:creationId xmlns:a16="http://schemas.microsoft.com/office/drawing/2014/main" id="{343067AE-9C2C-30C3-5C52-488098FA6A09}"/>
              </a:ext>
            </a:extLst>
          </p:cNvPr>
          <p:cNvSpPr txBox="1">
            <a:spLocks/>
          </p:cNvSpPr>
          <p:nvPr/>
        </p:nvSpPr>
        <p:spPr>
          <a:xfrm>
            <a:off x="457200" y="434575"/>
            <a:ext cx="60255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La Sfida del Mapping (Kiss-ICP)</a:t>
            </a:r>
          </a:p>
        </p:txBody>
      </p:sp>
      <p:sp>
        <p:nvSpPr>
          <p:cNvPr id="7" name="CasellaDiTesto 6">
            <a:extLst>
              <a:ext uri="{FF2B5EF4-FFF2-40B4-BE49-F238E27FC236}">
                <a16:creationId xmlns:a16="http://schemas.microsoft.com/office/drawing/2014/main" id="{60950B16-C76B-9D4C-B2D2-F616037405D4}"/>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a:extLst>
            <a:ext uri="{FF2B5EF4-FFF2-40B4-BE49-F238E27FC236}">
              <a16:creationId xmlns:a16="http://schemas.microsoft.com/office/drawing/2014/main" id="{50369BDE-0841-0D95-DC9E-7C75F7A7FAA5}"/>
            </a:ext>
          </a:extLst>
        </p:cNvPr>
        <p:cNvGrpSpPr/>
        <p:nvPr/>
      </p:nvGrpSpPr>
      <p:grpSpPr>
        <a:xfrm>
          <a:off x="0" y="0"/>
          <a:ext cx="0" cy="0"/>
          <a:chOff x="0" y="0"/>
          <a:chExt cx="0" cy="0"/>
        </a:xfrm>
      </p:grpSpPr>
      <p:sp>
        <p:nvSpPr>
          <p:cNvPr id="83" name="Google Shape;83;p15">
            <a:extLst>
              <a:ext uri="{FF2B5EF4-FFF2-40B4-BE49-F238E27FC236}">
                <a16:creationId xmlns:a16="http://schemas.microsoft.com/office/drawing/2014/main" id="{AD82E2CF-D730-F494-9953-6378A6EC22AE}"/>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4" name="Immagine 3">
            <a:extLst>
              <a:ext uri="{FF2B5EF4-FFF2-40B4-BE49-F238E27FC236}">
                <a16:creationId xmlns:a16="http://schemas.microsoft.com/office/drawing/2014/main" id="{8D44EA29-B096-EF18-3A2A-ECB1FDFB1741}"/>
              </a:ext>
            </a:extLst>
          </p:cNvPr>
          <p:cNvPicPr>
            <a:picLocks noChangeAspect="1"/>
          </p:cNvPicPr>
          <p:nvPr/>
        </p:nvPicPr>
        <p:blipFill>
          <a:blip r:embed="rId3"/>
          <a:stretch>
            <a:fillRect/>
          </a:stretch>
        </p:blipFill>
        <p:spPr>
          <a:xfrm>
            <a:off x="872936" y="811642"/>
            <a:ext cx="7700699" cy="3938209"/>
          </a:xfrm>
          <a:prstGeom prst="rect">
            <a:avLst/>
          </a:prstGeom>
        </p:spPr>
      </p:pic>
      <p:sp>
        <p:nvSpPr>
          <p:cNvPr id="3" name="CasellaDiTesto 2">
            <a:extLst>
              <a:ext uri="{FF2B5EF4-FFF2-40B4-BE49-F238E27FC236}">
                <a16:creationId xmlns:a16="http://schemas.microsoft.com/office/drawing/2014/main" id="{1EE4397C-4569-7971-D6AC-1E5D3D48A21F}"/>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570257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10F149DE-7CFE-E9A6-063B-AF0DD9FAA5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6</a:t>
            </a:fld>
            <a:endParaRPr lang="it-IT"/>
          </a:p>
        </p:txBody>
      </p:sp>
      <p:pic>
        <p:nvPicPr>
          <p:cNvPr id="3" name="Immagine 2">
            <a:extLst>
              <a:ext uri="{FF2B5EF4-FFF2-40B4-BE49-F238E27FC236}">
                <a16:creationId xmlns:a16="http://schemas.microsoft.com/office/drawing/2014/main" id="{87A3A0E5-2D1A-ED88-0FCE-EFFC4DA00E47}"/>
              </a:ext>
            </a:extLst>
          </p:cNvPr>
          <p:cNvPicPr>
            <a:picLocks noChangeAspect="1"/>
          </p:cNvPicPr>
          <p:nvPr/>
        </p:nvPicPr>
        <p:blipFill>
          <a:blip r:embed="rId2"/>
          <a:stretch>
            <a:fillRect/>
          </a:stretch>
        </p:blipFill>
        <p:spPr>
          <a:xfrm>
            <a:off x="1129990" y="752800"/>
            <a:ext cx="7403319" cy="3908409"/>
          </a:xfrm>
          <a:prstGeom prst="rect">
            <a:avLst/>
          </a:prstGeom>
        </p:spPr>
      </p:pic>
      <p:sp>
        <p:nvSpPr>
          <p:cNvPr id="5" name="CasellaDiTesto 4">
            <a:extLst>
              <a:ext uri="{FF2B5EF4-FFF2-40B4-BE49-F238E27FC236}">
                <a16:creationId xmlns:a16="http://schemas.microsoft.com/office/drawing/2014/main" id="{EF0713BB-9697-7C42-E39E-9C52F13E4DDC}"/>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053411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1CF45AEE-533B-9D42-8D42-C48B4087894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7</a:t>
            </a:fld>
            <a:endParaRPr lang="it-IT"/>
          </a:p>
        </p:txBody>
      </p:sp>
      <p:sp>
        <p:nvSpPr>
          <p:cNvPr id="7" name="CasellaDiTesto 6">
            <a:extLst>
              <a:ext uri="{FF2B5EF4-FFF2-40B4-BE49-F238E27FC236}">
                <a16:creationId xmlns:a16="http://schemas.microsoft.com/office/drawing/2014/main" id="{8FD90A14-46C3-41B0-A3E6-9EDCD51600FB}"/>
              </a:ext>
            </a:extLst>
          </p:cNvPr>
          <p:cNvSpPr txBox="1"/>
          <p:nvPr/>
        </p:nvSpPr>
        <p:spPr>
          <a:xfrm>
            <a:off x="457200" y="1511478"/>
            <a:ext cx="8483238" cy="3600986"/>
          </a:xfrm>
          <a:prstGeom prst="rect">
            <a:avLst/>
          </a:prstGeom>
          <a:noFill/>
        </p:spPr>
        <p:txBody>
          <a:bodyPr wrap="square" rtlCol="0">
            <a:spAutoFit/>
          </a:bodyPr>
          <a:lstStyle/>
          <a:p>
            <a:r>
              <a:rPr lang="it-IT" sz="2100" dirty="0">
                <a:solidFill>
                  <a:schemeClr val="bg1"/>
                </a:solidFill>
                <a:latin typeface="Titillium Web" panose="00000500000000000000" pitchFamily="2" charset="0"/>
              </a:rPr>
              <a:t>L'uso della classe </a:t>
            </a:r>
            <a:r>
              <a:rPr lang="it-IT" sz="2100" dirty="0" err="1">
                <a:solidFill>
                  <a:schemeClr val="bg1"/>
                </a:solidFill>
                <a:latin typeface="Titillium Web" panose="00000500000000000000" pitchFamily="2" charset="0"/>
              </a:rPr>
              <a:t>KittiDataset</a:t>
            </a:r>
            <a:r>
              <a:rPr lang="it-IT" sz="2100" dirty="0">
                <a:solidFill>
                  <a:schemeClr val="bg1"/>
                </a:solidFill>
                <a:latin typeface="Titillium Web" panose="00000500000000000000" pitchFamily="2" charset="0"/>
              </a:rPr>
              <a:t> falliva. La libreria </a:t>
            </a:r>
            <a:r>
              <a:rPr lang="it-IT" sz="2100" dirty="0" err="1">
                <a:solidFill>
                  <a:schemeClr val="bg1"/>
                </a:solidFill>
                <a:latin typeface="Titillium Web" panose="00000500000000000000" pitchFamily="2" charset="0"/>
              </a:rPr>
              <a:t>kiss-icp</a:t>
            </a:r>
            <a:r>
              <a:rPr lang="it-IT" sz="2100" dirty="0">
                <a:solidFill>
                  <a:schemeClr val="bg1"/>
                </a:solidFill>
                <a:latin typeface="Titillium Web" panose="00000500000000000000" pitchFamily="2" charset="0"/>
              </a:rPr>
              <a:t> è progettata in modo modulare.</a:t>
            </a:r>
            <a:r>
              <a:rPr lang="it-IT" sz="2100" dirty="0">
                <a:latin typeface="Titillium Web" panose="00000500000000000000" pitchFamily="2" charset="0"/>
              </a:rPr>
              <a:t> </a:t>
            </a:r>
            <a:r>
              <a:rPr lang="it-IT" sz="2100" dirty="0">
                <a:solidFill>
                  <a:schemeClr val="bg1"/>
                </a:solidFill>
                <a:latin typeface="Titillium Web" panose="00000500000000000000" pitchFamily="2" charset="0"/>
              </a:rPr>
              <a:t>Le classi specifiche per i dataset (come </a:t>
            </a:r>
          </a:p>
          <a:p>
            <a:r>
              <a:rPr lang="it-IT" sz="2100" dirty="0" err="1">
                <a:solidFill>
                  <a:schemeClr val="bg1"/>
                </a:solidFill>
                <a:latin typeface="Titillium Web" panose="00000500000000000000" pitchFamily="2" charset="0"/>
              </a:rPr>
              <a:t>KittiDataset</a:t>
            </a:r>
            <a:r>
              <a:rPr lang="it-IT" sz="2100" dirty="0">
                <a:solidFill>
                  <a:schemeClr val="bg1"/>
                </a:solidFill>
                <a:latin typeface="Titillium Web" panose="00000500000000000000" pitchFamily="2" charset="0"/>
              </a:rPr>
              <a:t>) spesso richiedono una struttura di cartelle molto rigida che </a:t>
            </a:r>
            <a:r>
              <a:rPr lang="it-IT" sz="2100" dirty="0" err="1">
                <a:solidFill>
                  <a:schemeClr val="bg1"/>
                </a:solidFill>
                <a:latin typeface="Titillium Web" panose="00000500000000000000" pitchFamily="2" charset="0"/>
              </a:rPr>
              <a:t>unipr_dia</a:t>
            </a:r>
            <a:r>
              <a:rPr lang="it-IT" sz="2100" dirty="0">
                <a:solidFill>
                  <a:schemeClr val="bg1"/>
                </a:solidFill>
                <a:latin typeface="Titillium Web" panose="00000500000000000000" pitchFamily="2" charset="0"/>
              </a:rPr>
              <a:t> non presenta.</a:t>
            </a:r>
          </a:p>
          <a:p>
            <a:endParaRPr lang="it-IT" sz="2100" dirty="0">
              <a:solidFill>
                <a:schemeClr val="bg1"/>
              </a:solidFill>
              <a:latin typeface="Titillium Web" panose="00000500000000000000" pitchFamily="2" charset="0"/>
            </a:endParaRPr>
          </a:p>
          <a:p>
            <a:r>
              <a:rPr lang="it-IT" sz="2100" dirty="0">
                <a:solidFill>
                  <a:schemeClr val="bg1"/>
                </a:solidFill>
                <a:latin typeface="Titillium Web" panose="00000500000000000000" pitchFamily="2" charset="0"/>
              </a:rPr>
              <a:t>La documentazione era obsoleta. Abbiamo creato script di introspezione (check.py) per interrogare la libreria e scoprire che </a:t>
            </a:r>
            <a:r>
              <a:rPr lang="it-IT" sz="2100" dirty="0" err="1">
                <a:solidFill>
                  <a:schemeClr val="bg1"/>
                </a:solidFill>
                <a:latin typeface="Titillium Web" panose="00000500000000000000" pitchFamily="2" charset="0"/>
              </a:rPr>
              <a:t>KittiDataset</a:t>
            </a:r>
            <a:r>
              <a:rPr lang="it-IT" sz="2100" dirty="0">
                <a:solidFill>
                  <a:schemeClr val="bg1"/>
                </a:solidFill>
                <a:latin typeface="Titillium Web" panose="00000500000000000000" pitchFamily="2" charset="0"/>
              </a:rPr>
              <a:t> non esisteva e che dovevamo usare una </a:t>
            </a:r>
            <a:r>
              <a:rPr lang="it-IT" sz="2100" dirty="0" err="1">
                <a:solidFill>
                  <a:schemeClr val="bg1"/>
                </a:solidFill>
                <a:latin typeface="Titillium Web" panose="00000500000000000000" pitchFamily="2" charset="0"/>
              </a:rPr>
              <a:t>factory</a:t>
            </a:r>
            <a:r>
              <a:rPr lang="it-IT" sz="2100" dirty="0">
                <a:solidFill>
                  <a:schemeClr val="bg1"/>
                </a:solidFill>
                <a:latin typeface="Titillium Web" panose="00000500000000000000" pitchFamily="2" charset="0"/>
              </a:rPr>
              <a:t>.</a:t>
            </a:r>
          </a:p>
          <a:p>
            <a:endParaRPr lang="it-IT" sz="2000" dirty="0">
              <a:solidFill>
                <a:schemeClr val="bg1"/>
              </a:solidFill>
              <a:latin typeface="Titillium Web" panose="00000500000000000000" pitchFamily="2" charset="0"/>
            </a:endParaRPr>
          </a:p>
          <a:p>
            <a:pPr lvl="0" eaLnBrk="0" fontAlgn="base" hangingPunct="0">
              <a:spcBef>
                <a:spcPct val="0"/>
              </a:spcBef>
              <a:spcAft>
                <a:spcPct val="0"/>
              </a:spcAft>
              <a:buClrTx/>
            </a:pPr>
            <a:endParaRPr lang="it-IT" altLang="it-IT" sz="2000" dirty="0">
              <a:solidFill>
                <a:schemeClr val="bg1"/>
              </a:solidFill>
              <a:latin typeface="Titillium Web" panose="00000500000000000000" pitchFamily="2" charset="0"/>
            </a:endParaRPr>
          </a:p>
          <a:p>
            <a:pPr eaLnBrk="0" fontAlgn="base" hangingPunct="0">
              <a:spcBef>
                <a:spcPct val="0"/>
              </a:spcBef>
              <a:spcAft>
                <a:spcPct val="0"/>
              </a:spcAft>
              <a:buClrTx/>
            </a:pPr>
            <a:endParaRPr lang="it-IT" altLang="it-IT" sz="2000" dirty="0">
              <a:solidFill>
                <a:schemeClr val="bg1"/>
              </a:solidFill>
              <a:latin typeface="Titillium Web" panose="00000500000000000000" pitchFamily="2" charset="0"/>
            </a:endParaRPr>
          </a:p>
        </p:txBody>
      </p:sp>
      <p:sp>
        <p:nvSpPr>
          <p:cNvPr id="2" name="Titolo 3">
            <a:extLst>
              <a:ext uri="{FF2B5EF4-FFF2-40B4-BE49-F238E27FC236}">
                <a16:creationId xmlns:a16="http://schemas.microsoft.com/office/drawing/2014/main" id="{08AC2ECC-5ACA-35F8-5FC0-D90893A9F9E4}"/>
              </a:ext>
            </a:extLst>
          </p:cNvPr>
          <p:cNvSpPr txBox="1">
            <a:spLocks/>
          </p:cNvSpPr>
          <p:nvPr/>
        </p:nvSpPr>
        <p:spPr>
          <a:xfrm>
            <a:off x="457200" y="434575"/>
            <a:ext cx="60255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Caricamento Dati</a:t>
            </a:r>
          </a:p>
        </p:txBody>
      </p:sp>
      <p:sp>
        <p:nvSpPr>
          <p:cNvPr id="5" name="CasellaDiTesto 4">
            <a:extLst>
              <a:ext uri="{FF2B5EF4-FFF2-40B4-BE49-F238E27FC236}">
                <a16:creationId xmlns:a16="http://schemas.microsoft.com/office/drawing/2014/main" id="{48B917DA-998A-DBB0-E11E-04984A1E128F}"/>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989140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3001-71B7-EAB1-3A70-A1CDFBAFC3B7}"/>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896B851F-E7CD-E727-C3E2-CE874A9A09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8</a:t>
            </a:fld>
            <a:endParaRPr lang="it-IT"/>
          </a:p>
        </p:txBody>
      </p:sp>
      <p:sp>
        <p:nvSpPr>
          <p:cNvPr id="7" name="CasellaDiTesto 6">
            <a:extLst>
              <a:ext uri="{FF2B5EF4-FFF2-40B4-BE49-F238E27FC236}">
                <a16:creationId xmlns:a16="http://schemas.microsoft.com/office/drawing/2014/main" id="{B5DC040A-5E8E-7080-3D11-61271B9EEA2E}"/>
              </a:ext>
            </a:extLst>
          </p:cNvPr>
          <p:cNvSpPr txBox="1"/>
          <p:nvPr/>
        </p:nvSpPr>
        <p:spPr>
          <a:xfrm>
            <a:off x="457200" y="1705760"/>
            <a:ext cx="8483238" cy="2631490"/>
          </a:xfrm>
          <a:prstGeom prst="rect">
            <a:avLst/>
          </a:prstGeom>
          <a:noFill/>
        </p:spPr>
        <p:txBody>
          <a:bodyPr wrap="square" rtlCol="0">
            <a:spAutoFit/>
          </a:bodyPr>
          <a:lstStyle/>
          <a:p>
            <a:pPr lvl="0" eaLnBrk="0" fontAlgn="base" hangingPunct="0">
              <a:spcBef>
                <a:spcPct val="0"/>
              </a:spcBef>
              <a:spcAft>
                <a:spcPct val="0"/>
              </a:spcAft>
              <a:buClr>
                <a:schemeClr val="accent3">
                  <a:lumMod val="75000"/>
                </a:schemeClr>
              </a:buClr>
            </a:pPr>
            <a:r>
              <a:rPr lang="it-IT" altLang="it-IT" sz="2100" dirty="0">
                <a:solidFill>
                  <a:schemeClr val="bg1"/>
                </a:solidFill>
                <a:latin typeface="Titillium Web" panose="00000500000000000000" pitchFamily="2" charset="0"/>
              </a:rPr>
              <a:t>Utilizzo di </a:t>
            </a:r>
            <a:r>
              <a:rPr lang="it-IT" altLang="it-IT" sz="2100" dirty="0" err="1">
                <a:solidFill>
                  <a:schemeClr val="bg1"/>
                </a:solidFill>
                <a:latin typeface="Courier New" panose="02070309020205020404" pitchFamily="49" charset="0"/>
                <a:cs typeface="Courier New" panose="02070309020205020404" pitchFamily="49" charset="0"/>
              </a:rPr>
              <a:t>dataset_factory</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err="1">
                <a:solidFill>
                  <a:schemeClr val="bg1"/>
                </a:solidFill>
                <a:latin typeface="Courier New" panose="02070309020205020404" pitchFamily="49" charset="0"/>
                <a:cs typeface="Courier New" panose="02070309020205020404" pitchFamily="49" charset="0"/>
              </a:rPr>
              <a:t>dataloader</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err="1">
                <a:solidFill>
                  <a:schemeClr val="bg1"/>
                </a:solidFill>
                <a:latin typeface="Courier New" panose="02070309020205020404" pitchFamily="49" charset="0"/>
                <a:cs typeface="Courier New" panose="02070309020205020404" pitchFamily="49" charset="0"/>
              </a:rPr>
              <a:t>generic</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a:solidFill>
                  <a:schemeClr val="bg1"/>
                </a:solidFill>
                <a:latin typeface="Titillium Web" panose="00000500000000000000" pitchFamily="2" charset="0"/>
              </a:rPr>
              <a:t> individuato tramite introspezione del codice. </a:t>
            </a:r>
            <a:r>
              <a:rPr lang="it-IT" sz="2100" dirty="0">
                <a:solidFill>
                  <a:schemeClr val="bg1"/>
                </a:solidFill>
                <a:latin typeface="Titillium Web" panose="00000500000000000000" pitchFamily="2" charset="0"/>
              </a:rPr>
              <a:t>Il </a:t>
            </a:r>
            <a:r>
              <a:rPr lang="it-IT" sz="2100" dirty="0" err="1">
                <a:solidFill>
                  <a:schemeClr val="bg1"/>
                </a:solidFill>
                <a:latin typeface="Titillium Web" panose="00000500000000000000" pitchFamily="2" charset="0"/>
              </a:rPr>
              <a:t>dataloader</a:t>
            </a:r>
            <a:r>
              <a:rPr lang="it-IT" sz="2100" dirty="0">
                <a:solidFill>
                  <a:schemeClr val="bg1"/>
                </a:solidFill>
                <a:latin typeface="Titillium Web" panose="00000500000000000000" pitchFamily="2" charset="0"/>
              </a:rPr>
              <a:t> </a:t>
            </a:r>
            <a:r>
              <a:rPr lang="it-IT" sz="2100" dirty="0" err="1">
                <a:solidFill>
                  <a:schemeClr val="bg1"/>
                </a:solidFill>
                <a:latin typeface="Titillium Web" panose="00000500000000000000" pitchFamily="2" charset="0"/>
              </a:rPr>
              <a:t>generic</a:t>
            </a:r>
            <a:r>
              <a:rPr lang="it-IT" sz="2100" dirty="0">
                <a:solidFill>
                  <a:schemeClr val="bg1"/>
                </a:solidFill>
                <a:latin typeface="Titillium Web" panose="00000500000000000000" pitchFamily="2" charset="0"/>
              </a:rPr>
              <a:t> è l'unico progettato per essere flessibile: invece di cercare file di configurazione complessi, scansiona semplicemente una cartella alla ricerca di file .bin e li carica in ordine alfabetico/numerico.</a:t>
            </a:r>
            <a:endParaRPr lang="it-IT" altLang="it-IT" sz="2100" dirty="0">
              <a:solidFill>
                <a:schemeClr val="bg1"/>
              </a:solidFill>
              <a:latin typeface="Titillium Web" panose="00000500000000000000" pitchFamily="2" charset="0"/>
            </a:endParaRPr>
          </a:p>
          <a:p>
            <a:endParaRPr lang="it-IT" sz="2000" dirty="0">
              <a:solidFill>
                <a:schemeClr val="bg1"/>
              </a:solidFill>
              <a:latin typeface="Titillium Web" panose="00000500000000000000" pitchFamily="2" charset="0"/>
            </a:endParaRPr>
          </a:p>
          <a:p>
            <a:pPr lvl="0" eaLnBrk="0" fontAlgn="base" hangingPunct="0">
              <a:spcBef>
                <a:spcPct val="0"/>
              </a:spcBef>
              <a:spcAft>
                <a:spcPct val="0"/>
              </a:spcAft>
              <a:buClrTx/>
            </a:pPr>
            <a:endParaRPr lang="it-IT" altLang="it-IT" sz="2000" dirty="0">
              <a:solidFill>
                <a:schemeClr val="bg1"/>
              </a:solidFill>
              <a:latin typeface="Titillium Web" panose="00000500000000000000" pitchFamily="2" charset="0"/>
            </a:endParaRPr>
          </a:p>
          <a:p>
            <a:pPr eaLnBrk="0" fontAlgn="base" hangingPunct="0">
              <a:spcBef>
                <a:spcPct val="0"/>
              </a:spcBef>
              <a:spcAft>
                <a:spcPct val="0"/>
              </a:spcAft>
              <a:buClrTx/>
            </a:pPr>
            <a:endParaRPr lang="it-IT" altLang="it-IT" sz="2000" dirty="0">
              <a:solidFill>
                <a:schemeClr val="bg1"/>
              </a:solidFill>
              <a:latin typeface="Titillium Web" panose="00000500000000000000" pitchFamily="2" charset="0"/>
            </a:endParaRPr>
          </a:p>
        </p:txBody>
      </p:sp>
      <p:sp>
        <p:nvSpPr>
          <p:cNvPr id="2" name="Titolo 3">
            <a:extLst>
              <a:ext uri="{FF2B5EF4-FFF2-40B4-BE49-F238E27FC236}">
                <a16:creationId xmlns:a16="http://schemas.microsoft.com/office/drawing/2014/main" id="{63857377-6AA3-69E7-253A-55446F24D4B4}"/>
              </a:ext>
            </a:extLst>
          </p:cNvPr>
          <p:cNvSpPr txBox="1">
            <a:spLocks/>
          </p:cNvSpPr>
          <p:nvPr/>
        </p:nvSpPr>
        <p:spPr>
          <a:xfrm>
            <a:off x="457200" y="434575"/>
            <a:ext cx="60255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Caricamento Dati - Soluzione</a:t>
            </a:r>
          </a:p>
        </p:txBody>
      </p:sp>
      <p:sp>
        <p:nvSpPr>
          <p:cNvPr id="5" name="CasellaDiTesto 4">
            <a:extLst>
              <a:ext uri="{FF2B5EF4-FFF2-40B4-BE49-F238E27FC236}">
                <a16:creationId xmlns:a16="http://schemas.microsoft.com/office/drawing/2014/main" id="{6720813C-9603-03F8-DCDA-678BDC34BEB0}"/>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1204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FC9F-C228-9421-0BB8-C55A5CF97A0C}"/>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73AD209F-2548-1892-CF3B-3A934E0601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9</a:t>
            </a:fld>
            <a:endParaRPr lang="it-IT"/>
          </a:p>
        </p:txBody>
      </p:sp>
      <p:sp>
        <p:nvSpPr>
          <p:cNvPr id="7" name="CasellaDiTesto 6">
            <a:extLst>
              <a:ext uri="{FF2B5EF4-FFF2-40B4-BE49-F238E27FC236}">
                <a16:creationId xmlns:a16="http://schemas.microsoft.com/office/drawing/2014/main" id="{A53764E2-DA3A-2F0A-F9AD-D51C3B93FE6D}"/>
              </a:ext>
            </a:extLst>
          </p:cNvPr>
          <p:cNvSpPr txBox="1"/>
          <p:nvPr/>
        </p:nvSpPr>
        <p:spPr>
          <a:xfrm>
            <a:off x="457200" y="1806150"/>
            <a:ext cx="8482361" cy="1384995"/>
          </a:xfrm>
          <a:prstGeom prst="rect">
            <a:avLst/>
          </a:prstGeom>
          <a:noFill/>
        </p:spPr>
        <p:txBody>
          <a:bodyPr wrap="square" rtlCol="0">
            <a:spAutoFit/>
          </a:bodyPr>
          <a:lstStyle/>
          <a:p>
            <a:pPr lvl="0" eaLnBrk="0" fontAlgn="base" hangingPunct="0">
              <a:spcBef>
                <a:spcPct val="0"/>
              </a:spcBef>
              <a:spcAft>
                <a:spcPct val="0"/>
              </a:spcAft>
              <a:buClrTx/>
            </a:pPr>
            <a:r>
              <a:rPr lang="it-IT" sz="2100" dirty="0">
                <a:solidFill>
                  <a:schemeClr val="bg1"/>
                </a:solidFill>
                <a:latin typeface="Titillium Web" panose="00000500000000000000" pitchFamily="2" charset="0"/>
              </a:rPr>
              <a:t>Tentando di inizializzare la pipeline con </a:t>
            </a:r>
          </a:p>
          <a:p>
            <a:pPr lvl="0" eaLnBrk="0" fontAlgn="base" hangingPunct="0">
              <a:spcBef>
                <a:spcPct val="0"/>
              </a:spcBef>
              <a:spcAft>
                <a:spcPct val="0"/>
              </a:spcAft>
              <a:buClrTx/>
            </a:pPr>
            <a:r>
              <a:rPr lang="it-IT" sz="2100" dirty="0">
                <a:solidFill>
                  <a:schemeClr val="bg1"/>
                </a:solidFill>
                <a:latin typeface="Courier New" panose="02070309020205020404" pitchFamily="49" charset="0"/>
                <a:cs typeface="Courier New" panose="02070309020205020404" pitchFamily="49" charset="0"/>
              </a:rPr>
              <a:t>pipeline = </a:t>
            </a:r>
            <a:r>
              <a:rPr lang="it-IT" sz="2100" dirty="0" err="1">
                <a:solidFill>
                  <a:schemeClr val="bg1"/>
                </a:solidFill>
                <a:latin typeface="Courier New" panose="02070309020205020404" pitchFamily="49" charset="0"/>
                <a:cs typeface="Courier New" panose="02070309020205020404" pitchFamily="49" charset="0"/>
              </a:rPr>
              <a:t>OdometryPipeline</a:t>
            </a:r>
            <a:r>
              <a:rPr lang="it-IT" sz="2100" dirty="0">
                <a:solidFill>
                  <a:schemeClr val="bg1"/>
                </a:solidFill>
                <a:latin typeface="Courier New" panose="02070309020205020404" pitchFamily="49" charset="0"/>
                <a:cs typeface="Courier New" panose="02070309020205020404" pitchFamily="49" charset="0"/>
              </a:rPr>
              <a:t>(</a:t>
            </a:r>
            <a:r>
              <a:rPr lang="it-IT" sz="2100" dirty="0" err="1">
                <a:solidFill>
                  <a:schemeClr val="bg1"/>
                </a:solidFill>
                <a:latin typeface="Courier New" panose="02070309020205020404" pitchFamily="49" charset="0"/>
                <a:cs typeface="Courier New" panose="02070309020205020404" pitchFamily="49" charset="0"/>
              </a:rPr>
              <a:t>config</a:t>
            </a:r>
            <a:r>
              <a:rPr lang="it-IT" sz="2100" dirty="0">
                <a:solidFill>
                  <a:schemeClr val="bg1"/>
                </a:solidFill>
                <a:latin typeface="Courier New" panose="02070309020205020404" pitchFamily="49" charset="0"/>
                <a:cs typeface="Courier New" panose="02070309020205020404" pitchFamily="49" charset="0"/>
              </a:rPr>
              <a:t>)</a:t>
            </a:r>
            <a:r>
              <a:rPr lang="it-IT" sz="2100" dirty="0">
                <a:solidFill>
                  <a:schemeClr val="bg1"/>
                </a:solidFill>
                <a:latin typeface="Titillium Web" panose="00000500000000000000" pitchFamily="2" charset="0"/>
              </a:rPr>
              <a:t>, </a:t>
            </a:r>
            <a:br>
              <a:rPr lang="it-IT" sz="2100" dirty="0">
                <a:solidFill>
                  <a:schemeClr val="bg1"/>
                </a:solidFill>
                <a:latin typeface="Titillium Web" panose="00000500000000000000" pitchFamily="2" charset="0"/>
              </a:rPr>
            </a:br>
            <a:r>
              <a:rPr lang="it-IT" sz="2100" dirty="0">
                <a:solidFill>
                  <a:schemeClr val="bg1"/>
                </a:solidFill>
                <a:latin typeface="Titillium Web" panose="00000500000000000000" pitchFamily="2" charset="0"/>
              </a:rPr>
              <a:t>il programma crashava con </a:t>
            </a:r>
          </a:p>
          <a:p>
            <a:pPr lvl="0" eaLnBrk="0" fontAlgn="base" hangingPunct="0">
              <a:spcBef>
                <a:spcPct val="0"/>
              </a:spcBef>
              <a:spcAft>
                <a:spcPct val="0"/>
              </a:spcAft>
              <a:buClrTx/>
            </a:pPr>
            <a:r>
              <a:rPr lang="it-IT" sz="2100" dirty="0" err="1">
                <a:solidFill>
                  <a:schemeClr val="bg1"/>
                </a:solidFill>
                <a:latin typeface="Courier New" panose="02070309020205020404" pitchFamily="49" charset="0"/>
                <a:cs typeface="Courier New" panose="02070309020205020404" pitchFamily="49" charset="0"/>
              </a:rPr>
              <a:t>TypeError</a:t>
            </a:r>
            <a:r>
              <a:rPr lang="it-IT" sz="2100" dirty="0">
                <a:solidFill>
                  <a:schemeClr val="bg1"/>
                </a:solidFill>
                <a:latin typeface="Courier New" panose="02070309020205020404" pitchFamily="49" charset="0"/>
                <a:cs typeface="Courier New" panose="02070309020205020404" pitchFamily="49" charset="0"/>
              </a:rPr>
              <a:t>: </a:t>
            </a:r>
            <a:r>
              <a:rPr lang="it-IT" sz="2100" dirty="0" err="1">
                <a:solidFill>
                  <a:schemeClr val="bg1"/>
                </a:solidFill>
                <a:latin typeface="Courier New" panose="02070309020205020404" pitchFamily="49" charset="0"/>
                <a:cs typeface="Courier New" panose="02070309020205020404" pitchFamily="49" charset="0"/>
              </a:rPr>
              <a:t>object</a:t>
            </a:r>
            <a:r>
              <a:rPr lang="it-IT" sz="2100" dirty="0">
                <a:solidFill>
                  <a:schemeClr val="bg1"/>
                </a:solidFill>
                <a:latin typeface="Courier New" panose="02070309020205020404" pitchFamily="49" charset="0"/>
                <a:cs typeface="Courier New" panose="02070309020205020404" pitchFamily="49" charset="0"/>
              </a:rPr>
              <a:t> of </a:t>
            </a:r>
            <a:r>
              <a:rPr lang="it-IT" sz="2100" dirty="0" err="1">
                <a:solidFill>
                  <a:schemeClr val="bg1"/>
                </a:solidFill>
                <a:latin typeface="Courier New" panose="02070309020205020404" pitchFamily="49" charset="0"/>
                <a:cs typeface="Courier New" panose="02070309020205020404" pitchFamily="49" charset="0"/>
              </a:rPr>
              <a:t>type</a:t>
            </a:r>
            <a:r>
              <a:rPr lang="it-IT" sz="2100" dirty="0">
                <a:solidFill>
                  <a:schemeClr val="bg1"/>
                </a:solidFill>
                <a:latin typeface="Courier New" panose="02070309020205020404" pitchFamily="49" charset="0"/>
                <a:cs typeface="Courier New" panose="02070309020205020404" pitchFamily="49" charset="0"/>
              </a:rPr>
              <a:t> '</a:t>
            </a:r>
            <a:r>
              <a:rPr lang="it-IT" sz="2100" dirty="0" err="1">
                <a:solidFill>
                  <a:schemeClr val="bg1"/>
                </a:solidFill>
                <a:latin typeface="Courier New" panose="02070309020205020404" pitchFamily="49" charset="0"/>
                <a:cs typeface="Courier New" panose="02070309020205020404" pitchFamily="49" charset="0"/>
              </a:rPr>
              <a:t>KISSConfig</a:t>
            </a:r>
            <a:r>
              <a:rPr lang="it-IT" sz="2100" dirty="0">
                <a:solidFill>
                  <a:schemeClr val="bg1"/>
                </a:solidFill>
                <a:latin typeface="Courier New" panose="02070309020205020404" pitchFamily="49" charset="0"/>
                <a:cs typeface="Courier New" panose="02070309020205020404" pitchFamily="49" charset="0"/>
              </a:rPr>
              <a:t>' </a:t>
            </a:r>
            <a:r>
              <a:rPr lang="it-IT" sz="2100" dirty="0" err="1">
                <a:solidFill>
                  <a:schemeClr val="bg1"/>
                </a:solidFill>
                <a:latin typeface="Courier New" panose="02070309020205020404" pitchFamily="49" charset="0"/>
                <a:cs typeface="Courier New" panose="02070309020205020404" pitchFamily="49" charset="0"/>
              </a:rPr>
              <a:t>has</a:t>
            </a:r>
            <a:r>
              <a:rPr lang="it-IT" sz="2100" dirty="0">
                <a:solidFill>
                  <a:schemeClr val="bg1"/>
                </a:solidFill>
                <a:latin typeface="Courier New" panose="02070309020205020404" pitchFamily="49" charset="0"/>
                <a:cs typeface="Courier New" panose="02070309020205020404" pitchFamily="49" charset="0"/>
              </a:rPr>
              <a:t> no </a:t>
            </a:r>
            <a:r>
              <a:rPr lang="it-IT" sz="2100" dirty="0" err="1">
                <a:solidFill>
                  <a:schemeClr val="bg1"/>
                </a:solidFill>
                <a:latin typeface="Courier New" panose="02070309020205020404" pitchFamily="49" charset="0"/>
                <a:cs typeface="Courier New" panose="02070309020205020404" pitchFamily="49" charset="0"/>
              </a:rPr>
              <a:t>len</a:t>
            </a:r>
            <a:r>
              <a:rPr lang="it-IT" sz="2100" dirty="0">
                <a:solidFill>
                  <a:schemeClr val="bg1"/>
                </a:solidFill>
                <a:latin typeface="Courier New" panose="02070309020205020404" pitchFamily="49" charset="0"/>
                <a:cs typeface="Courier New" panose="02070309020205020404" pitchFamily="49" charset="0"/>
              </a:rPr>
              <a:t>()</a:t>
            </a:r>
            <a:r>
              <a:rPr lang="it-IT" sz="2100" dirty="0">
                <a:solidFill>
                  <a:schemeClr val="bg1"/>
                </a:solidFill>
                <a:latin typeface="Titillium Web" panose="00000500000000000000" pitchFamily="2" charset="0"/>
              </a:rPr>
              <a:t>.</a:t>
            </a:r>
            <a:endParaRPr lang="it-IT" altLang="it-IT" sz="2100" dirty="0">
              <a:solidFill>
                <a:schemeClr val="bg1"/>
              </a:solidFill>
              <a:latin typeface="Titillium Web" panose="00000500000000000000" pitchFamily="2" charset="0"/>
            </a:endParaRPr>
          </a:p>
        </p:txBody>
      </p:sp>
      <p:sp>
        <p:nvSpPr>
          <p:cNvPr id="2" name="Titolo 3">
            <a:extLst>
              <a:ext uri="{FF2B5EF4-FFF2-40B4-BE49-F238E27FC236}">
                <a16:creationId xmlns:a16="http://schemas.microsoft.com/office/drawing/2014/main" id="{E39E8B5E-D879-808F-27BA-CB5E51668C5A}"/>
              </a:ext>
            </a:extLst>
          </p:cNvPr>
          <p:cNvSpPr txBox="1">
            <a:spLocks/>
          </p:cNvSpPr>
          <p:nvPr/>
        </p:nvSpPr>
        <p:spPr>
          <a:xfrm>
            <a:off x="457200" y="434575"/>
            <a:ext cx="60255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Pipeline</a:t>
            </a:r>
          </a:p>
        </p:txBody>
      </p:sp>
      <p:sp>
        <p:nvSpPr>
          <p:cNvPr id="6" name="CasellaDiTesto 5">
            <a:extLst>
              <a:ext uri="{FF2B5EF4-FFF2-40B4-BE49-F238E27FC236}">
                <a16:creationId xmlns:a16="http://schemas.microsoft.com/office/drawing/2014/main" id="{4B74C1A7-B431-F59C-8293-718DA0EE2E0C}"/>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46394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7B0D6-A6CA-30D9-CD06-E2B456C88DDB}"/>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BD1F3D6E-E7EF-6793-C61E-A4B0A6ED57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10</a:t>
            </a:fld>
            <a:endParaRPr lang="it-IT"/>
          </a:p>
        </p:txBody>
      </p:sp>
      <p:sp>
        <p:nvSpPr>
          <p:cNvPr id="3" name="Rectangle 2">
            <a:extLst>
              <a:ext uri="{FF2B5EF4-FFF2-40B4-BE49-F238E27FC236}">
                <a16:creationId xmlns:a16="http://schemas.microsoft.com/office/drawing/2014/main" id="{07B043F1-4F47-CB8D-C0D1-BB3F580F8CFF}"/>
              </a:ext>
            </a:extLst>
          </p:cNvPr>
          <p:cNvSpPr>
            <a:spLocks noChangeArrowheads="1"/>
          </p:cNvSpPr>
          <p:nvPr/>
        </p:nvSpPr>
        <p:spPr bwMode="auto">
          <a:xfrm>
            <a:off x="457199" y="1606637"/>
            <a:ext cx="8147497" cy="2354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it-IT" altLang="it-IT" sz="2100" b="0" i="0" u="none" strike="noStrike" cap="none" normalizeH="0" baseline="0" dirty="0">
                <a:ln>
                  <a:noFill/>
                </a:ln>
                <a:solidFill>
                  <a:schemeClr val="bg1"/>
                </a:solidFill>
                <a:effectLst/>
                <a:latin typeface="Titillium Web" panose="00000500000000000000" pitchFamily="2" charset="0"/>
              </a:rPr>
              <a:t>Modifica dell'inizializzazione in </a:t>
            </a:r>
          </a:p>
          <a:p>
            <a:pPr marL="0" marR="0" lvl="0" indent="0" algn="l" defTabSz="914400" rtl="0" eaLnBrk="0" fontAlgn="base" latinLnBrk="0" hangingPunct="0">
              <a:lnSpc>
                <a:spcPct val="100000"/>
              </a:lnSpc>
              <a:spcBef>
                <a:spcPct val="0"/>
              </a:spcBef>
              <a:spcAft>
                <a:spcPct val="0"/>
              </a:spcAft>
              <a:buClrTx/>
              <a:buSzTx/>
              <a:tabLst/>
            </a:pPr>
            <a:r>
              <a:rPr kumimoji="0" lang="it-IT" altLang="it-IT" sz="21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pipeline = </a:t>
            </a:r>
            <a:r>
              <a:rPr kumimoji="0" lang="it-IT" altLang="it-IT" sz="2100" b="0" i="0" u="none" strike="noStrike" cap="none" normalizeH="0" baseline="0" dirty="0" err="1">
                <a:ln>
                  <a:noFill/>
                </a:ln>
                <a:solidFill>
                  <a:schemeClr val="bg1"/>
                </a:solidFill>
                <a:effectLst/>
                <a:latin typeface="Courier New" panose="02070309020205020404" pitchFamily="49" charset="0"/>
                <a:cs typeface="Courier New" panose="02070309020205020404" pitchFamily="49" charset="0"/>
              </a:rPr>
              <a:t>OdometryPipeline</a:t>
            </a:r>
            <a:r>
              <a:rPr kumimoji="0" lang="it-IT" altLang="it-IT" sz="21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(dataset)</a:t>
            </a:r>
            <a:r>
              <a:rPr kumimoji="0" lang="it-IT" altLang="it-IT" sz="2100" b="0" i="0" u="none" strike="noStrike" cap="none" normalizeH="0" baseline="0" dirty="0">
                <a:ln>
                  <a:noFill/>
                </a:ln>
                <a:solidFill>
                  <a:schemeClr val="bg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it-IT" altLang="it-IT" sz="21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it-IT" altLang="it-IT" sz="2100" b="1" i="0" u="none" strike="noStrike" cap="none" normalizeH="0" baseline="0" dirty="0">
                <a:ln>
                  <a:noFill/>
                </a:ln>
                <a:solidFill>
                  <a:schemeClr val="bg1"/>
                </a:solidFill>
                <a:effectLst/>
                <a:latin typeface="Titillium Web" panose="00000500000000000000" pitchFamily="2" charset="0"/>
              </a:rPr>
              <a:t>Perché questa soluzione</a:t>
            </a:r>
            <a:r>
              <a:rPr lang="it-IT" altLang="it-IT" sz="2100" b="1" dirty="0">
                <a:solidFill>
                  <a:schemeClr val="bg1"/>
                </a:solidFill>
                <a:latin typeface="Titillium Web" panose="00000500000000000000" pitchFamily="2" charset="0"/>
              </a:rPr>
              <a:t>? </a:t>
            </a:r>
            <a:r>
              <a:rPr kumimoji="0" lang="it-IT" altLang="it-IT" sz="2100" b="0" i="0" u="none" strike="noStrike" cap="none" normalizeH="0" baseline="0" dirty="0">
                <a:ln>
                  <a:noFill/>
                </a:ln>
                <a:solidFill>
                  <a:schemeClr val="bg1"/>
                </a:solidFill>
                <a:effectLst/>
                <a:latin typeface="Titillium Web" panose="00000500000000000000" pitchFamily="2" charset="0"/>
              </a:rPr>
              <a:t>Passando direttamente il dataset, la pipeline riceve tutte le informazioni necessarie: </a:t>
            </a:r>
          </a:p>
          <a:p>
            <a:pPr marL="0" marR="0" lvl="0" indent="0" algn="l" defTabSz="914400" rtl="0" eaLnBrk="0" fontAlgn="base" latinLnBrk="0" hangingPunct="0">
              <a:lnSpc>
                <a:spcPct val="100000"/>
              </a:lnSpc>
              <a:spcBef>
                <a:spcPct val="0"/>
              </a:spcBef>
              <a:spcAft>
                <a:spcPct val="0"/>
              </a:spcAft>
              <a:buClrTx/>
              <a:buSzTx/>
              <a:tabLst/>
            </a:pPr>
            <a:r>
              <a:rPr kumimoji="0" lang="it-IT" altLang="it-IT" sz="2100" b="0" i="0" u="none" strike="noStrike" cap="none" normalizeH="0" baseline="0" dirty="0">
                <a:ln>
                  <a:noFill/>
                </a:ln>
                <a:solidFill>
                  <a:schemeClr val="bg1"/>
                </a:solidFill>
                <a:effectLst/>
                <a:latin typeface="Titillium Web" panose="00000500000000000000" pitchFamily="2" charset="0"/>
              </a:rPr>
              <a:t>i dati (i frame) e la configurazione (che è già incapsulata dentro l'oggetto dataset creato dalla </a:t>
            </a:r>
            <a:r>
              <a:rPr kumimoji="0" lang="it-IT" altLang="it-IT" sz="2100" b="0" i="0" u="none" strike="noStrike" cap="none" normalizeH="0" baseline="0" dirty="0" err="1">
                <a:ln>
                  <a:noFill/>
                </a:ln>
                <a:solidFill>
                  <a:schemeClr val="bg1"/>
                </a:solidFill>
                <a:effectLst/>
                <a:latin typeface="Titillium Web" panose="00000500000000000000" pitchFamily="2" charset="0"/>
              </a:rPr>
              <a:t>factory</a:t>
            </a:r>
            <a:r>
              <a:rPr kumimoji="0" lang="it-IT" altLang="it-IT" sz="2100" b="0" i="0" u="none" strike="noStrike" cap="none" normalizeH="0" baseline="0" dirty="0">
                <a:ln>
                  <a:noFill/>
                </a:ln>
                <a:solidFill>
                  <a:schemeClr val="bg1"/>
                </a:solidFill>
                <a:effectLst/>
                <a:latin typeface="Titillium Web" panose="00000500000000000000" pitchFamily="2" charset="0"/>
              </a:rPr>
              <a:t>).</a:t>
            </a:r>
          </a:p>
        </p:txBody>
      </p:sp>
      <p:sp>
        <p:nvSpPr>
          <p:cNvPr id="2" name="Titolo 3">
            <a:extLst>
              <a:ext uri="{FF2B5EF4-FFF2-40B4-BE49-F238E27FC236}">
                <a16:creationId xmlns:a16="http://schemas.microsoft.com/office/drawing/2014/main" id="{EBAF7ADB-A72D-368B-DB6D-8F66DC7B09CD}"/>
              </a:ext>
            </a:extLst>
          </p:cNvPr>
          <p:cNvSpPr txBox="1">
            <a:spLocks/>
          </p:cNvSpPr>
          <p:nvPr/>
        </p:nvSpPr>
        <p:spPr>
          <a:xfrm>
            <a:off x="457199" y="434575"/>
            <a:ext cx="7850221"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Pipeline – Soluzione Implementata</a:t>
            </a:r>
          </a:p>
        </p:txBody>
      </p:sp>
      <p:sp>
        <p:nvSpPr>
          <p:cNvPr id="6" name="CasellaDiTesto 5">
            <a:extLst>
              <a:ext uri="{FF2B5EF4-FFF2-40B4-BE49-F238E27FC236}">
                <a16:creationId xmlns:a16="http://schemas.microsoft.com/office/drawing/2014/main" id="{E385D2E0-9821-96C5-F935-CDC1CC93B666}"/>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3076829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5716F-EAC8-E2B9-671A-B83F4081154D}"/>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DE0E685D-6507-7C77-6998-7985372AB4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11</a:t>
            </a:fld>
            <a:endParaRPr lang="it-IT"/>
          </a:p>
        </p:txBody>
      </p:sp>
      <p:pic>
        <p:nvPicPr>
          <p:cNvPr id="3" name="Immagine 2">
            <a:extLst>
              <a:ext uri="{FF2B5EF4-FFF2-40B4-BE49-F238E27FC236}">
                <a16:creationId xmlns:a16="http://schemas.microsoft.com/office/drawing/2014/main" id="{0E7D36A1-C39E-72A8-9593-A4BBA92CD3CA}"/>
              </a:ext>
            </a:extLst>
          </p:cNvPr>
          <p:cNvPicPr>
            <a:picLocks noChangeAspect="1"/>
          </p:cNvPicPr>
          <p:nvPr/>
        </p:nvPicPr>
        <p:blipFill>
          <a:blip r:embed="rId2"/>
          <a:stretch>
            <a:fillRect/>
          </a:stretch>
        </p:blipFill>
        <p:spPr>
          <a:xfrm>
            <a:off x="861120" y="1229674"/>
            <a:ext cx="7893814" cy="2509701"/>
          </a:xfrm>
          <a:prstGeom prst="rect">
            <a:avLst/>
          </a:prstGeom>
        </p:spPr>
      </p:pic>
      <p:sp>
        <p:nvSpPr>
          <p:cNvPr id="5" name="CasellaDiTesto 4">
            <a:extLst>
              <a:ext uri="{FF2B5EF4-FFF2-40B4-BE49-F238E27FC236}">
                <a16:creationId xmlns:a16="http://schemas.microsoft.com/office/drawing/2014/main" id="{DD0FC62E-4035-2016-D855-208AD4ADD1AD}"/>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896466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28357-2487-401F-AA1E-11B1342B42BE}"/>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4ABE63F1-379D-CE1F-3B81-1C8555F3D9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12</a:t>
            </a:fld>
            <a:endParaRPr lang="it-IT"/>
          </a:p>
        </p:txBody>
      </p:sp>
      <p:sp>
        <p:nvSpPr>
          <p:cNvPr id="7" name="CasellaDiTesto 6">
            <a:extLst>
              <a:ext uri="{FF2B5EF4-FFF2-40B4-BE49-F238E27FC236}">
                <a16:creationId xmlns:a16="http://schemas.microsoft.com/office/drawing/2014/main" id="{E00515FA-37C6-B124-7A7D-8BEA5F4F4CA3}"/>
              </a:ext>
            </a:extLst>
          </p:cNvPr>
          <p:cNvSpPr txBox="1"/>
          <p:nvPr/>
        </p:nvSpPr>
        <p:spPr>
          <a:xfrm>
            <a:off x="457200" y="1542779"/>
            <a:ext cx="8482361" cy="2677656"/>
          </a:xfrm>
          <a:prstGeom prst="rect">
            <a:avLst/>
          </a:prstGeom>
          <a:noFill/>
        </p:spPr>
        <p:txBody>
          <a:bodyPr wrap="square" rtlCol="0">
            <a:spAutoFit/>
          </a:bodyPr>
          <a:lstStyle/>
          <a:p>
            <a:pPr eaLnBrk="0" fontAlgn="base" hangingPunct="0">
              <a:spcBef>
                <a:spcPct val="0"/>
              </a:spcBef>
              <a:spcAft>
                <a:spcPct val="0"/>
              </a:spcAft>
              <a:buClrTx/>
            </a:pPr>
            <a:r>
              <a:rPr lang="it-IT" altLang="it-IT" sz="2100" dirty="0">
                <a:solidFill>
                  <a:schemeClr val="bg1"/>
                </a:solidFill>
                <a:latin typeface="Titillium Web" panose="00000500000000000000" pitchFamily="2" charset="0"/>
              </a:rPr>
              <a:t>Assenza di un metodo </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err="1">
                <a:solidFill>
                  <a:schemeClr val="bg1"/>
                </a:solidFill>
                <a:latin typeface="Courier New" panose="02070309020205020404" pitchFamily="49" charset="0"/>
                <a:cs typeface="Courier New" panose="02070309020205020404" pitchFamily="49" charset="0"/>
              </a:rPr>
              <a:t>save_map</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a:solidFill>
                  <a:schemeClr val="bg1"/>
                </a:solidFill>
                <a:latin typeface="Titillium Web" panose="00000500000000000000" pitchFamily="2" charset="0"/>
              </a:rPr>
              <a:t> nativo funzionante.</a:t>
            </a:r>
          </a:p>
          <a:p>
            <a:pPr eaLnBrk="0" fontAlgn="base" hangingPunct="0">
              <a:spcBef>
                <a:spcPct val="0"/>
              </a:spcBef>
              <a:spcAft>
                <a:spcPct val="0"/>
              </a:spcAft>
              <a:buClrTx/>
            </a:pPr>
            <a:endParaRPr lang="it-IT" altLang="it-IT" sz="2100" dirty="0">
              <a:solidFill>
                <a:schemeClr val="bg1"/>
              </a:solidFill>
              <a:latin typeface="Titillium Web" panose="00000500000000000000" pitchFamily="2" charset="0"/>
            </a:endParaRPr>
          </a:p>
          <a:p>
            <a:pPr eaLnBrk="0" fontAlgn="base" hangingPunct="0">
              <a:spcBef>
                <a:spcPct val="0"/>
              </a:spcBef>
              <a:spcAft>
                <a:spcPct val="0"/>
              </a:spcAft>
              <a:buClrTx/>
            </a:pPr>
            <a:r>
              <a:rPr lang="it-IT" sz="2100" b="1" dirty="0">
                <a:solidFill>
                  <a:schemeClr val="bg1"/>
                </a:solidFill>
                <a:latin typeface="Titillium Web" panose="00000500000000000000" pitchFamily="2" charset="0"/>
              </a:rPr>
              <a:t>Perché è successo? </a:t>
            </a:r>
            <a:r>
              <a:rPr lang="it-IT" sz="2100" dirty="0">
                <a:solidFill>
                  <a:schemeClr val="bg1"/>
                </a:solidFill>
                <a:latin typeface="Titillium Web" panose="00000500000000000000" pitchFamily="2" charset="0"/>
              </a:rPr>
              <a:t>L'introspezione ha confermato che gli sviluppatori di </a:t>
            </a:r>
            <a:r>
              <a:rPr lang="it-IT" sz="2100" dirty="0" err="1">
                <a:solidFill>
                  <a:schemeClr val="bg1"/>
                </a:solidFill>
                <a:latin typeface="Titillium Web" panose="00000500000000000000" pitchFamily="2" charset="0"/>
              </a:rPr>
              <a:t>kiss-icp</a:t>
            </a:r>
            <a:r>
              <a:rPr lang="it-IT" sz="2100" dirty="0">
                <a:solidFill>
                  <a:schemeClr val="bg1"/>
                </a:solidFill>
                <a:latin typeface="Titillium Web" panose="00000500000000000000" pitchFamily="2" charset="0"/>
              </a:rPr>
              <a:t> </a:t>
            </a:r>
            <a:r>
              <a:rPr lang="it-IT" sz="2100" i="1" dirty="0">
                <a:solidFill>
                  <a:schemeClr val="bg1"/>
                </a:solidFill>
                <a:latin typeface="Titillium Web" panose="00000500000000000000" pitchFamily="2" charset="0"/>
              </a:rPr>
              <a:t>non hanno implementato</a:t>
            </a:r>
            <a:r>
              <a:rPr lang="it-IT" sz="2100" dirty="0">
                <a:solidFill>
                  <a:schemeClr val="bg1"/>
                </a:solidFill>
                <a:latin typeface="Titillium Web" panose="00000500000000000000" pitchFamily="2" charset="0"/>
              </a:rPr>
              <a:t> una funzione pubblica per esportare la mappa finale in un file. La libreria è pensata principalmente per l'</a:t>
            </a:r>
            <a:r>
              <a:rPr lang="it-IT" sz="2100" dirty="0" err="1">
                <a:solidFill>
                  <a:schemeClr val="bg1"/>
                </a:solidFill>
                <a:latin typeface="Titillium Web" panose="00000500000000000000" pitchFamily="2" charset="0"/>
              </a:rPr>
              <a:t>odometria</a:t>
            </a:r>
            <a:r>
              <a:rPr lang="it-IT" sz="2100" dirty="0">
                <a:solidFill>
                  <a:schemeClr val="bg1"/>
                </a:solidFill>
                <a:latin typeface="Titillium Web" panose="00000500000000000000" pitchFamily="2" charset="0"/>
              </a:rPr>
              <a:t> (calcolo traiettoria), non per il mapping offline. La mappa esisteva solo nella RAM, dentro una struttura dati complessa (</a:t>
            </a:r>
            <a:r>
              <a:rPr lang="it-IT" sz="2100" dirty="0" err="1">
                <a:solidFill>
                  <a:schemeClr val="bg1"/>
                </a:solidFill>
                <a:latin typeface="Titillium Web" panose="00000500000000000000" pitchFamily="2" charset="0"/>
              </a:rPr>
              <a:t>VoxelHashMap</a:t>
            </a:r>
            <a:r>
              <a:rPr lang="it-IT" sz="2100" dirty="0">
                <a:solidFill>
                  <a:schemeClr val="bg1"/>
                </a:solidFill>
                <a:latin typeface="Titillium Web" panose="00000500000000000000" pitchFamily="2" charset="0"/>
              </a:rPr>
              <a:t>).</a:t>
            </a:r>
            <a:endParaRPr lang="it-IT" altLang="it-IT" sz="2100" dirty="0">
              <a:solidFill>
                <a:schemeClr val="bg1"/>
              </a:solidFill>
              <a:latin typeface="Titillium Web" panose="00000500000000000000" pitchFamily="2" charset="0"/>
            </a:endParaRPr>
          </a:p>
        </p:txBody>
      </p:sp>
      <p:sp>
        <p:nvSpPr>
          <p:cNvPr id="2" name="Titolo 3">
            <a:extLst>
              <a:ext uri="{FF2B5EF4-FFF2-40B4-BE49-F238E27FC236}">
                <a16:creationId xmlns:a16="http://schemas.microsoft.com/office/drawing/2014/main" id="{AA5A01C9-B53E-9567-9952-B845223EF960}"/>
              </a:ext>
            </a:extLst>
          </p:cNvPr>
          <p:cNvSpPr txBox="1">
            <a:spLocks/>
          </p:cNvSpPr>
          <p:nvPr/>
        </p:nvSpPr>
        <p:spPr>
          <a:xfrm>
            <a:off x="457200" y="434575"/>
            <a:ext cx="60255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Salvataggio Mappa</a:t>
            </a:r>
          </a:p>
        </p:txBody>
      </p:sp>
      <p:sp>
        <p:nvSpPr>
          <p:cNvPr id="5" name="CasellaDiTesto 4">
            <a:extLst>
              <a:ext uri="{FF2B5EF4-FFF2-40B4-BE49-F238E27FC236}">
                <a16:creationId xmlns:a16="http://schemas.microsoft.com/office/drawing/2014/main" id="{71A6FDC3-ED71-DA71-61C1-042DF2492048}"/>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3992614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163E4-B2A7-163C-E98A-43E0B3B018DE}"/>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71360C9F-48FE-3F79-D22E-AC88C2B940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13</a:t>
            </a:fld>
            <a:endParaRPr lang="it-IT"/>
          </a:p>
        </p:txBody>
      </p:sp>
      <p:sp>
        <p:nvSpPr>
          <p:cNvPr id="5" name="CasellaDiTesto 4">
            <a:extLst>
              <a:ext uri="{FF2B5EF4-FFF2-40B4-BE49-F238E27FC236}">
                <a16:creationId xmlns:a16="http://schemas.microsoft.com/office/drawing/2014/main" id="{B5C0F95F-12DC-1BC4-2627-5D60276A261F}"/>
              </a:ext>
            </a:extLst>
          </p:cNvPr>
          <p:cNvSpPr txBox="1"/>
          <p:nvPr/>
        </p:nvSpPr>
        <p:spPr>
          <a:xfrm>
            <a:off x="493426" y="2065894"/>
            <a:ext cx="8124094" cy="1384995"/>
          </a:xfrm>
          <a:prstGeom prst="rect">
            <a:avLst/>
          </a:prstGeom>
          <a:noFill/>
        </p:spPr>
        <p:txBody>
          <a:bodyPr wrap="square" rtlCol="0">
            <a:spAutoFit/>
          </a:bodyPr>
          <a:lstStyle/>
          <a:p>
            <a:r>
              <a:rPr lang="it-IT" sz="2100" i="1" dirty="0">
                <a:solidFill>
                  <a:schemeClr val="bg1"/>
                </a:solidFill>
                <a:latin typeface="Titillium Web" panose="00000500000000000000" pitchFamily="2" charset="0"/>
              </a:rPr>
              <a:t>Estrazione</a:t>
            </a:r>
            <a:r>
              <a:rPr lang="it-IT" sz="2100" dirty="0">
                <a:solidFill>
                  <a:schemeClr val="bg1"/>
                </a:solidFill>
                <a:latin typeface="Titillium Web" panose="00000500000000000000" pitchFamily="2" charset="0"/>
              </a:rPr>
              <a:t>: Abbiamo trovato un metodo "nascosto" (</a:t>
            </a:r>
            <a:r>
              <a:rPr lang="it-IT" sz="2100" dirty="0" err="1">
                <a:solidFill>
                  <a:schemeClr val="bg1"/>
                </a:solidFill>
                <a:latin typeface="Courier New" panose="02070309020205020404" pitchFamily="49" charset="0"/>
                <a:cs typeface="Courier New" panose="02070309020205020404" pitchFamily="49" charset="0"/>
              </a:rPr>
              <a:t>pipeline.odometry.local_map.point_cloud</a:t>
            </a:r>
            <a:r>
              <a:rPr lang="it-IT" sz="2100" dirty="0">
                <a:solidFill>
                  <a:schemeClr val="bg1"/>
                </a:solidFill>
                <a:latin typeface="Courier New" panose="02070309020205020404" pitchFamily="49" charset="0"/>
                <a:cs typeface="Courier New" panose="02070309020205020404" pitchFamily="49" charset="0"/>
              </a:rPr>
              <a:t>()) </a:t>
            </a:r>
            <a:r>
              <a:rPr lang="it-IT" sz="2100" dirty="0">
                <a:solidFill>
                  <a:schemeClr val="bg1"/>
                </a:solidFill>
                <a:latin typeface="Titillium Web" panose="00000500000000000000" pitchFamily="2" charset="0"/>
              </a:rPr>
              <a:t>che permetteva di scaricare i punti dalla </a:t>
            </a:r>
            <a:r>
              <a:rPr lang="it-IT" sz="2100" dirty="0" err="1">
                <a:solidFill>
                  <a:schemeClr val="bg1"/>
                </a:solidFill>
                <a:latin typeface="Titillium Web" panose="00000500000000000000" pitchFamily="2" charset="0"/>
              </a:rPr>
              <a:t>VoxelHashMap</a:t>
            </a:r>
            <a:r>
              <a:rPr lang="it-IT" sz="2100" dirty="0">
                <a:solidFill>
                  <a:schemeClr val="bg1"/>
                </a:solidFill>
                <a:latin typeface="Titillium Web" panose="00000500000000000000" pitchFamily="2" charset="0"/>
              </a:rPr>
              <a:t> interna e convertirli in un semplice array di coordinate (una lista di vettori X,Y,Z).</a:t>
            </a:r>
          </a:p>
        </p:txBody>
      </p:sp>
      <p:sp>
        <p:nvSpPr>
          <p:cNvPr id="6" name="Titolo 3">
            <a:extLst>
              <a:ext uri="{FF2B5EF4-FFF2-40B4-BE49-F238E27FC236}">
                <a16:creationId xmlns:a16="http://schemas.microsoft.com/office/drawing/2014/main" id="{AB184884-3358-4008-8C8C-0BB650C34B42}"/>
              </a:ext>
            </a:extLst>
          </p:cNvPr>
          <p:cNvSpPr txBox="1">
            <a:spLocks/>
          </p:cNvSpPr>
          <p:nvPr/>
        </p:nvSpPr>
        <p:spPr>
          <a:xfrm>
            <a:off x="493426" y="525366"/>
            <a:ext cx="7850221" cy="1167246"/>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Salvataggio Mappa – </a:t>
            </a:r>
            <a:br>
              <a:rPr lang="it-IT" sz="3600" dirty="0"/>
            </a:br>
            <a:r>
              <a:rPr lang="it-IT" sz="3600" dirty="0"/>
              <a:t>Soluzione Implementata</a:t>
            </a:r>
          </a:p>
        </p:txBody>
      </p:sp>
      <p:sp>
        <p:nvSpPr>
          <p:cNvPr id="8" name="CasellaDiTesto 7">
            <a:extLst>
              <a:ext uri="{FF2B5EF4-FFF2-40B4-BE49-F238E27FC236}">
                <a16:creationId xmlns:a16="http://schemas.microsoft.com/office/drawing/2014/main" id="{D9F8392F-05E2-1372-9BB2-20A97441BFD9}"/>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3530910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8A982-ECFE-7D42-660A-7E0F3D8C4E0D}"/>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A8097EF1-5D0F-CD92-92BF-CEDEA31267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14</a:t>
            </a:fld>
            <a:endParaRPr lang="it-IT"/>
          </a:p>
        </p:txBody>
      </p:sp>
      <p:sp>
        <p:nvSpPr>
          <p:cNvPr id="5" name="CasellaDiTesto 4">
            <a:extLst>
              <a:ext uri="{FF2B5EF4-FFF2-40B4-BE49-F238E27FC236}">
                <a16:creationId xmlns:a16="http://schemas.microsoft.com/office/drawing/2014/main" id="{3DDF328D-B82E-CB14-6D68-C1E7428DBA67}"/>
              </a:ext>
            </a:extLst>
          </p:cNvPr>
          <p:cNvSpPr txBox="1"/>
          <p:nvPr/>
        </p:nvSpPr>
        <p:spPr>
          <a:xfrm>
            <a:off x="493426" y="2094688"/>
            <a:ext cx="8124094" cy="2031325"/>
          </a:xfrm>
          <a:prstGeom prst="rect">
            <a:avLst/>
          </a:prstGeom>
          <a:noFill/>
        </p:spPr>
        <p:txBody>
          <a:bodyPr wrap="square" rtlCol="0">
            <a:spAutoFit/>
          </a:bodyPr>
          <a:lstStyle/>
          <a:p>
            <a:r>
              <a:rPr lang="it-IT" sz="2100" i="1" dirty="0">
                <a:solidFill>
                  <a:schemeClr val="bg1"/>
                </a:solidFill>
                <a:latin typeface="Titillium Web" panose="00000500000000000000" pitchFamily="2" charset="0"/>
              </a:rPr>
              <a:t>Conversione e Salvataggio</a:t>
            </a:r>
            <a:r>
              <a:rPr lang="it-IT" sz="2100" dirty="0">
                <a:solidFill>
                  <a:schemeClr val="bg1"/>
                </a:solidFill>
                <a:latin typeface="Titillium Web" panose="00000500000000000000" pitchFamily="2" charset="0"/>
              </a:rPr>
              <a:t>: Poiché </a:t>
            </a:r>
            <a:r>
              <a:rPr lang="it-IT" sz="2100" dirty="0" err="1">
                <a:solidFill>
                  <a:schemeClr val="bg1"/>
                </a:solidFill>
                <a:latin typeface="Titillium Web" panose="00000500000000000000" pitchFamily="2" charset="0"/>
              </a:rPr>
              <a:t>kiss-icp</a:t>
            </a:r>
            <a:r>
              <a:rPr lang="it-IT" sz="2100" dirty="0">
                <a:solidFill>
                  <a:schemeClr val="bg1"/>
                </a:solidFill>
                <a:latin typeface="Titillium Web" panose="00000500000000000000" pitchFamily="2" charset="0"/>
              </a:rPr>
              <a:t> non sa scrivere file </a:t>
            </a:r>
            <a:r>
              <a:rPr lang="it-IT" sz="2100" dirty="0">
                <a:solidFill>
                  <a:schemeClr val="bg1"/>
                </a:solidFill>
                <a:latin typeface="Courier New" panose="02070309020205020404" pitchFamily="49" charset="0"/>
                <a:cs typeface="Courier New" panose="02070309020205020404" pitchFamily="49" charset="0"/>
              </a:rPr>
              <a:t>.</a:t>
            </a:r>
            <a:r>
              <a:rPr lang="it-IT" sz="2100" dirty="0" err="1">
                <a:solidFill>
                  <a:schemeClr val="bg1"/>
                </a:solidFill>
                <a:latin typeface="Courier New" panose="02070309020205020404" pitchFamily="49" charset="0"/>
                <a:cs typeface="Courier New" panose="02070309020205020404" pitchFamily="49" charset="0"/>
              </a:rPr>
              <a:t>pcd</a:t>
            </a:r>
            <a:r>
              <a:rPr lang="it-IT" sz="2100" dirty="0">
                <a:solidFill>
                  <a:schemeClr val="bg1"/>
                </a:solidFill>
                <a:latin typeface="Titillium Web" panose="00000500000000000000" pitchFamily="2" charset="0"/>
              </a:rPr>
              <a:t>, abbiamo usato Open3D come "ponte". Abbiamo creato un oggetto o3d.geometry.PointCloud vuoto, lo abbiamo riempito con l'array di punti estratto da Kiss-ICP, e infine abbiamo usato la funzione </a:t>
            </a:r>
            <a:r>
              <a:rPr lang="it-IT" sz="2100" dirty="0">
                <a:solidFill>
                  <a:schemeClr val="bg1"/>
                </a:solidFill>
                <a:latin typeface="Courier New" panose="02070309020205020404" pitchFamily="49" charset="0"/>
                <a:cs typeface="Courier New" panose="02070309020205020404" pitchFamily="49" charset="0"/>
              </a:rPr>
              <a:t>o3d.io.write_point_cloud() </a:t>
            </a:r>
            <a:r>
              <a:rPr lang="it-IT" sz="2100" dirty="0">
                <a:solidFill>
                  <a:schemeClr val="bg1"/>
                </a:solidFill>
                <a:latin typeface="Titillium Web" panose="00000500000000000000" pitchFamily="2" charset="0"/>
              </a:rPr>
              <a:t>che è robusta e ottimizzata per scrivere file 3D su disco .</a:t>
            </a:r>
          </a:p>
        </p:txBody>
      </p:sp>
      <p:sp>
        <p:nvSpPr>
          <p:cNvPr id="6" name="Titolo 3">
            <a:extLst>
              <a:ext uri="{FF2B5EF4-FFF2-40B4-BE49-F238E27FC236}">
                <a16:creationId xmlns:a16="http://schemas.microsoft.com/office/drawing/2014/main" id="{485A4DD2-FD44-3731-D626-3E2E685082F7}"/>
              </a:ext>
            </a:extLst>
          </p:cNvPr>
          <p:cNvSpPr txBox="1">
            <a:spLocks/>
          </p:cNvSpPr>
          <p:nvPr/>
        </p:nvSpPr>
        <p:spPr>
          <a:xfrm>
            <a:off x="493426" y="525366"/>
            <a:ext cx="7850221" cy="1167246"/>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Salvataggio Mappa – </a:t>
            </a:r>
            <a:br>
              <a:rPr lang="it-IT" sz="3600" dirty="0"/>
            </a:br>
            <a:r>
              <a:rPr lang="it-IT" sz="3600" dirty="0"/>
              <a:t>Soluzione Implementata</a:t>
            </a:r>
          </a:p>
        </p:txBody>
      </p:sp>
      <p:sp>
        <p:nvSpPr>
          <p:cNvPr id="3" name="CasellaDiTesto 2">
            <a:extLst>
              <a:ext uri="{FF2B5EF4-FFF2-40B4-BE49-F238E27FC236}">
                <a16:creationId xmlns:a16="http://schemas.microsoft.com/office/drawing/2014/main" id="{983111C3-4D2D-6356-A1DB-8F0F1F0D040C}"/>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1165346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BEF65-6281-A86E-A2F8-07760F17D196}"/>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69960FDE-DA76-A882-6E7D-1ECD951ACF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15</a:t>
            </a:fld>
            <a:endParaRPr lang="it-IT"/>
          </a:p>
        </p:txBody>
      </p:sp>
      <p:pic>
        <p:nvPicPr>
          <p:cNvPr id="5" name="Immagine 4" descr="Immagine che contiene notte&#10;&#10;Il contenuto generato dall'IA potrebbe non essere corretto.">
            <a:extLst>
              <a:ext uri="{FF2B5EF4-FFF2-40B4-BE49-F238E27FC236}">
                <a16:creationId xmlns:a16="http://schemas.microsoft.com/office/drawing/2014/main" id="{E79A4FAC-D010-A1D6-E630-C7D15E636B06}"/>
              </a:ext>
            </a:extLst>
          </p:cNvPr>
          <p:cNvPicPr>
            <a:picLocks noChangeAspect="1"/>
          </p:cNvPicPr>
          <p:nvPr/>
        </p:nvPicPr>
        <p:blipFill>
          <a:blip r:embed="rId2"/>
          <a:stretch>
            <a:fillRect/>
          </a:stretch>
        </p:blipFill>
        <p:spPr>
          <a:xfrm>
            <a:off x="372422" y="1122052"/>
            <a:ext cx="3780000" cy="2281662"/>
          </a:xfrm>
          <a:prstGeom prst="rect">
            <a:avLst/>
          </a:prstGeom>
        </p:spPr>
      </p:pic>
      <p:pic>
        <p:nvPicPr>
          <p:cNvPr id="7" name="Immagine 6" descr="Immagine che contiene verde, oscurità, arte&#10;&#10;Il contenuto generato dall'IA potrebbe non essere corretto.">
            <a:extLst>
              <a:ext uri="{FF2B5EF4-FFF2-40B4-BE49-F238E27FC236}">
                <a16:creationId xmlns:a16="http://schemas.microsoft.com/office/drawing/2014/main" id="{FE84BDB8-3723-B10E-7F73-4B71C36A140B}"/>
              </a:ext>
            </a:extLst>
          </p:cNvPr>
          <p:cNvPicPr>
            <a:picLocks noChangeAspect="1"/>
          </p:cNvPicPr>
          <p:nvPr/>
        </p:nvPicPr>
        <p:blipFill>
          <a:blip r:embed="rId3"/>
          <a:srcRect r="7217"/>
          <a:stretch>
            <a:fillRect/>
          </a:stretch>
        </p:blipFill>
        <p:spPr>
          <a:xfrm>
            <a:off x="4862994" y="1122052"/>
            <a:ext cx="3908584" cy="2282400"/>
          </a:xfrm>
          <a:prstGeom prst="rect">
            <a:avLst/>
          </a:prstGeom>
        </p:spPr>
      </p:pic>
      <p:sp>
        <p:nvSpPr>
          <p:cNvPr id="8" name="CasellaDiTesto 7">
            <a:extLst>
              <a:ext uri="{FF2B5EF4-FFF2-40B4-BE49-F238E27FC236}">
                <a16:creationId xmlns:a16="http://schemas.microsoft.com/office/drawing/2014/main" id="{840EECCE-2814-CA9F-4315-0C481FB29FDF}"/>
              </a:ext>
            </a:extLst>
          </p:cNvPr>
          <p:cNvSpPr txBox="1"/>
          <p:nvPr/>
        </p:nvSpPr>
        <p:spPr>
          <a:xfrm>
            <a:off x="372422" y="3438067"/>
            <a:ext cx="3780000" cy="523220"/>
          </a:xfrm>
          <a:prstGeom prst="rect">
            <a:avLst/>
          </a:prstGeom>
          <a:noFill/>
        </p:spPr>
        <p:txBody>
          <a:bodyPr wrap="square" rtlCol="0">
            <a:spAutoFit/>
          </a:bodyPr>
          <a:lstStyle/>
          <a:p>
            <a:r>
              <a:rPr lang="it-IT" b="1" dirty="0">
                <a:solidFill>
                  <a:schemeClr val="bg1"/>
                </a:solidFill>
                <a:latin typeface="Titillium Web" panose="00000500000000000000" pitchFamily="2" charset="0"/>
              </a:rPr>
              <a:t>Dati Tecnici:</a:t>
            </a:r>
            <a:endParaRPr lang="it-IT" dirty="0">
              <a:solidFill>
                <a:schemeClr val="bg1"/>
              </a:solidFill>
              <a:latin typeface="Titillium Web" panose="00000500000000000000" pitchFamily="2" charset="0"/>
            </a:endParaRPr>
          </a:p>
          <a:p>
            <a:r>
              <a:rPr lang="it-IT" dirty="0">
                <a:solidFill>
                  <a:schemeClr val="bg1"/>
                </a:solidFill>
                <a:latin typeface="Titillium Web" panose="00000500000000000000" pitchFamily="2" charset="0"/>
              </a:rPr>
              <a:t>Punti totali: ~161.998.</a:t>
            </a:r>
          </a:p>
        </p:txBody>
      </p:sp>
      <p:sp>
        <p:nvSpPr>
          <p:cNvPr id="2" name="CasellaDiTesto 1">
            <a:extLst>
              <a:ext uri="{FF2B5EF4-FFF2-40B4-BE49-F238E27FC236}">
                <a16:creationId xmlns:a16="http://schemas.microsoft.com/office/drawing/2014/main" id="{FA596E86-CD1F-9ADC-5BC8-E84862385DDB}"/>
              </a:ext>
            </a:extLst>
          </p:cNvPr>
          <p:cNvSpPr txBox="1"/>
          <p:nvPr/>
        </p:nvSpPr>
        <p:spPr>
          <a:xfrm>
            <a:off x="4927286" y="3438067"/>
            <a:ext cx="3780000" cy="523220"/>
          </a:xfrm>
          <a:prstGeom prst="rect">
            <a:avLst/>
          </a:prstGeom>
          <a:noFill/>
        </p:spPr>
        <p:txBody>
          <a:bodyPr wrap="square" rtlCol="0">
            <a:spAutoFit/>
          </a:bodyPr>
          <a:lstStyle/>
          <a:p>
            <a:r>
              <a:rPr lang="it-IT" b="1" dirty="0">
                <a:solidFill>
                  <a:schemeClr val="bg1"/>
                </a:solidFill>
                <a:latin typeface="Titillium Web" panose="00000500000000000000" pitchFamily="2" charset="0"/>
              </a:rPr>
              <a:t>Dati Tecnici:</a:t>
            </a:r>
            <a:endParaRPr lang="it-IT" dirty="0">
              <a:solidFill>
                <a:schemeClr val="bg1"/>
              </a:solidFill>
              <a:latin typeface="Titillium Web" panose="00000500000000000000" pitchFamily="2" charset="0"/>
            </a:endParaRPr>
          </a:p>
          <a:p>
            <a:r>
              <a:rPr lang="it-IT" dirty="0">
                <a:solidFill>
                  <a:schemeClr val="bg1"/>
                </a:solidFill>
                <a:latin typeface="Titillium Web" panose="00000500000000000000" pitchFamily="2" charset="0"/>
              </a:rPr>
              <a:t>Punti totali: ~216.620.</a:t>
            </a:r>
          </a:p>
        </p:txBody>
      </p:sp>
      <p:sp>
        <p:nvSpPr>
          <p:cNvPr id="9" name="CasellaDiTesto 8">
            <a:extLst>
              <a:ext uri="{FF2B5EF4-FFF2-40B4-BE49-F238E27FC236}">
                <a16:creationId xmlns:a16="http://schemas.microsoft.com/office/drawing/2014/main" id="{34A59774-2B17-17E8-AE4A-9FECC242998F}"/>
              </a:ext>
            </a:extLst>
          </p:cNvPr>
          <p:cNvSpPr txBox="1"/>
          <p:nvPr/>
        </p:nvSpPr>
        <p:spPr>
          <a:xfrm>
            <a:off x="372422" y="3934820"/>
            <a:ext cx="8541118" cy="707886"/>
          </a:xfrm>
          <a:prstGeom prst="rect">
            <a:avLst/>
          </a:prstGeom>
          <a:noFill/>
        </p:spPr>
        <p:txBody>
          <a:bodyPr wrap="square" rtlCol="0">
            <a:spAutoFit/>
          </a:bodyPr>
          <a:lstStyle/>
          <a:p>
            <a:r>
              <a:rPr lang="it-IT" sz="2000" i="1" dirty="0">
                <a:solidFill>
                  <a:schemeClr val="bg1"/>
                </a:solidFill>
                <a:latin typeface="Titillium Web" panose="00000500000000000000" pitchFamily="2" charset="0"/>
              </a:rPr>
              <a:t>Coerenza</a:t>
            </a:r>
            <a:r>
              <a:rPr lang="it-IT" sz="2000" dirty="0">
                <a:solidFill>
                  <a:schemeClr val="bg1"/>
                </a:solidFill>
                <a:latin typeface="Titillium Web" panose="00000500000000000000" pitchFamily="2" charset="0"/>
              </a:rPr>
              <a:t>: La mappa mostra un allineamento corretto del corridoio (pareti dritte, nessuna deriva evidente).</a:t>
            </a:r>
          </a:p>
        </p:txBody>
      </p:sp>
      <p:sp>
        <p:nvSpPr>
          <p:cNvPr id="11" name="Titolo 3">
            <a:extLst>
              <a:ext uri="{FF2B5EF4-FFF2-40B4-BE49-F238E27FC236}">
                <a16:creationId xmlns:a16="http://schemas.microsoft.com/office/drawing/2014/main" id="{AA810894-63D9-EC45-FCD3-28BA56EAE519}"/>
              </a:ext>
            </a:extLst>
          </p:cNvPr>
          <p:cNvSpPr txBox="1">
            <a:spLocks/>
          </p:cNvSpPr>
          <p:nvPr/>
        </p:nvSpPr>
        <p:spPr>
          <a:xfrm>
            <a:off x="372422" y="112189"/>
            <a:ext cx="7727004"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Risultati Mappa Globale I e II Dataset</a:t>
            </a:r>
          </a:p>
        </p:txBody>
      </p:sp>
      <p:sp>
        <p:nvSpPr>
          <p:cNvPr id="12" name="CasellaDiTesto 11">
            <a:extLst>
              <a:ext uri="{FF2B5EF4-FFF2-40B4-BE49-F238E27FC236}">
                <a16:creationId xmlns:a16="http://schemas.microsoft.com/office/drawing/2014/main" id="{11BA0CB0-DC57-3D4B-EBAB-62D04356188F}"/>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812798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AC5A1F4B-22F0-1705-7182-9F951C2CE8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16</a:t>
            </a:fld>
            <a:endParaRPr lang="it-IT"/>
          </a:p>
        </p:txBody>
      </p:sp>
      <p:sp>
        <p:nvSpPr>
          <p:cNvPr id="5" name="Rectangle 1">
            <a:extLst>
              <a:ext uri="{FF2B5EF4-FFF2-40B4-BE49-F238E27FC236}">
                <a16:creationId xmlns:a16="http://schemas.microsoft.com/office/drawing/2014/main" id="{336783CE-C4C8-B357-ED81-6229D2F6B98F}"/>
              </a:ext>
            </a:extLst>
          </p:cNvPr>
          <p:cNvSpPr>
            <a:spLocks noGrp="1" noChangeArrowheads="1"/>
          </p:cNvSpPr>
          <p:nvPr>
            <p:ph type="body" idx="1"/>
          </p:nvPr>
        </p:nvSpPr>
        <p:spPr bwMode="auto">
          <a:xfrm>
            <a:off x="457200" y="1612835"/>
            <a:ext cx="8206740"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it-IT" altLang="it-IT" sz="2000" b="1" i="0" u="none" strike="noStrike" cap="none" normalizeH="0" baseline="0" dirty="0">
                <a:ln>
                  <a:noFill/>
                </a:ln>
                <a:solidFill>
                  <a:schemeClr val="bg1"/>
                </a:solidFill>
                <a:effectLst/>
                <a:latin typeface="Titillium Web" panose="00000500000000000000" pitchFamily="2" charset="0"/>
              </a:rPr>
              <a:t>Obiettivo:</a:t>
            </a:r>
            <a:r>
              <a:rPr kumimoji="0" lang="it-IT" altLang="it-IT" sz="2000" b="0" i="0" u="none" strike="noStrike" cap="none" normalizeH="0" baseline="0" dirty="0">
                <a:ln>
                  <a:noFill/>
                </a:ln>
                <a:solidFill>
                  <a:schemeClr val="bg1"/>
                </a:solidFill>
                <a:effectLst/>
                <a:latin typeface="Titillium Web" panose="00000500000000000000" pitchFamily="2" charset="0"/>
              </a:rPr>
              <a:t> Simulare un sensore </a:t>
            </a:r>
            <a:r>
              <a:rPr kumimoji="0" lang="it-IT" altLang="it-IT" sz="2000" b="0" i="0" u="none" strike="noStrike" cap="none" normalizeH="0" baseline="0" dirty="0" err="1">
                <a:ln>
                  <a:noFill/>
                </a:ln>
                <a:solidFill>
                  <a:schemeClr val="bg1"/>
                </a:solidFill>
                <a:effectLst/>
                <a:latin typeface="Titillium Web" panose="00000500000000000000" pitchFamily="2" charset="0"/>
              </a:rPr>
              <a:t>LiDAR</a:t>
            </a:r>
            <a:r>
              <a:rPr kumimoji="0" lang="it-IT" altLang="it-IT" sz="2000" b="0" i="0" u="none" strike="noStrike" cap="none" normalizeH="0" baseline="0" dirty="0">
                <a:ln>
                  <a:noFill/>
                </a:ln>
                <a:solidFill>
                  <a:schemeClr val="bg1"/>
                </a:solidFill>
                <a:effectLst/>
                <a:latin typeface="Titillium Web" panose="00000500000000000000" pitchFamily="2" charset="0"/>
              </a:rPr>
              <a:t> VLP-16 posizionato in t=(10, 0, 1).</a:t>
            </a:r>
          </a:p>
          <a:p>
            <a:pPr marL="0" marR="0" lvl="0" indent="0" algn="l" defTabSz="914400" rtl="0" eaLnBrk="0" fontAlgn="base" latinLnBrk="0" hangingPunct="0">
              <a:lnSpc>
                <a:spcPct val="100000"/>
              </a:lnSpc>
              <a:spcBef>
                <a:spcPct val="0"/>
              </a:spcBef>
              <a:spcAft>
                <a:spcPct val="0"/>
              </a:spcAft>
              <a:buClrTx/>
              <a:buSzTx/>
              <a:buNone/>
              <a:tabLst/>
            </a:pPr>
            <a:endParaRPr kumimoji="0" lang="it-IT" altLang="it-IT" sz="2000" b="0" i="0" u="none" strike="noStrike" cap="none" normalizeH="0" baseline="0" dirty="0">
              <a:ln>
                <a:noFill/>
              </a:ln>
              <a:solidFill>
                <a:schemeClr val="bg1"/>
              </a:solidFill>
              <a:effectLst/>
              <a:latin typeface="Titillium Web" panose="00000500000000000000" pitchFamily="2" charset="0"/>
            </a:endParaRPr>
          </a:p>
          <a:p>
            <a:pPr marL="342900" marR="0" lvl="0" indent="-342900" algn="l" defTabSz="914400" rtl="0" eaLnBrk="0" fontAlgn="base" latinLnBrk="0" hangingPunct="0">
              <a:lnSpc>
                <a:spcPct val="100000"/>
              </a:lnSpc>
              <a:spcBef>
                <a:spcPct val="0"/>
              </a:spcBef>
              <a:spcAft>
                <a:spcPct val="0"/>
              </a:spcAft>
              <a:buClr>
                <a:schemeClr val="accent3">
                  <a:lumMod val="75000"/>
                </a:schemeClr>
              </a:buClr>
              <a:buSzTx/>
              <a:buFont typeface="Wingdings" panose="05000000000000000000" pitchFamily="2" charset="2"/>
              <a:buChar char="v"/>
              <a:tabLst/>
            </a:pPr>
            <a:r>
              <a:rPr kumimoji="0" lang="it-IT" altLang="it-IT" sz="2000" b="1" i="0" u="none" strike="noStrike" cap="none" normalizeH="0" baseline="0" dirty="0">
                <a:ln>
                  <a:noFill/>
                </a:ln>
                <a:solidFill>
                  <a:schemeClr val="bg1"/>
                </a:solidFill>
                <a:effectLst/>
                <a:latin typeface="Titillium Web" panose="00000500000000000000" pitchFamily="2" charset="0"/>
              </a:rPr>
              <a:t>Tecnologia:</a:t>
            </a:r>
            <a:r>
              <a:rPr kumimoji="0" lang="it-IT" altLang="it-IT" sz="2000" b="0" i="0" u="none" strike="noStrike" cap="none" normalizeH="0" baseline="0" dirty="0">
                <a:ln>
                  <a:noFill/>
                </a:ln>
                <a:solidFill>
                  <a:schemeClr val="bg1"/>
                </a:solidFill>
                <a:effectLst/>
                <a:latin typeface="Titillium Web" panose="00000500000000000000" pitchFamily="2" charset="0"/>
              </a:rPr>
              <a:t> Programma C++ basato su PCL (Point Cloud Library).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000" b="0" i="0" u="none" strike="noStrike" cap="none" normalizeH="0" baseline="0" dirty="0">
              <a:ln>
                <a:noFill/>
              </a:ln>
              <a:solidFill>
                <a:schemeClr val="bg1"/>
              </a:solidFill>
              <a:effectLst/>
              <a:latin typeface="Titillium Web" panose="00000500000000000000" pitchFamily="2" charset="0"/>
            </a:endParaRPr>
          </a:p>
          <a:p>
            <a:pPr marL="342900" marR="0" lvl="0" indent="-342900" algn="l" defTabSz="914400" rtl="0" eaLnBrk="0" fontAlgn="base" latinLnBrk="0" hangingPunct="0">
              <a:lnSpc>
                <a:spcPct val="100000"/>
              </a:lnSpc>
              <a:spcBef>
                <a:spcPct val="0"/>
              </a:spcBef>
              <a:spcAft>
                <a:spcPct val="0"/>
              </a:spcAft>
              <a:buClr>
                <a:schemeClr val="accent3">
                  <a:lumMod val="75000"/>
                </a:schemeClr>
              </a:buClr>
              <a:buSzTx/>
              <a:buFont typeface="Wingdings" panose="05000000000000000000" pitchFamily="2" charset="2"/>
              <a:buChar char="v"/>
              <a:tabLst/>
            </a:pPr>
            <a:r>
              <a:rPr kumimoji="0" lang="it-IT" altLang="it-IT" sz="2000" b="1" i="0" u="none" strike="noStrike" cap="none" normalizeH="0" baseline="0" dirty="0">
                <a:ln>
                  <a:noFill/>
                </a:ln>
                <a:solidFill>
                  <a:schemeClr val="bg1"/>
                </a:solidFill>
                <a:effectLst/>
                <a:latin typeface="Titillium Web" panose="00000500000000000000" pitchFamily="2" charset="0"/>
              </a:rPr>
              <a:t>Input:</a:t>
            </a:r>
            <a:r>
              <a:rPr kumimoji="0" lang="it-IT" altLang="it-IT" sz="2000" b="0" i="0" u="none" strike="noStrike" cap="none" normalizeH="0" baseline="0" dirty="0">
                <a:ln>
                  <a:noFill/>
                </a:ln>
                <a:solidFill>
                  <a:schemeClr val="bg1"/>
                </a:solidFill>
                <a:effectLst/>
                <a:latin typeface="Titillium Web" panose="00000500000000000000" pitchFamily="2" charset="0"/>
              </a:rPr>
              <a:t> La mappa globale generata al passo precedente.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000" b="0" i="0" u="none" strike="noStrike" cap="none" normalizeH="0" baseline="0" dirty="0">
              <a:ln>
                <a:noFill/>
              </a:ln>
              <a:solidFill>
                <a:schemeClr val="bg1"/>
              </a:solidFill>
              <a:effectLst/>
              <a:latin typeface="Titillium Web" panose="00000500000000000000" pitchFamily="2" charset="0"/>
            </a:endParaRPr>
          </a:p>
          <a:p>
            <a:pPr marL="342900" marR="0" lvl="0" indent="-342900" algn="l" defTabSz="914400" rtl="0" eaLnBrk="0" fontAlgn="base" latinLnBrk="0" hangingPunct="0">
              <a:lnSpc>
                <a:spcPct val="100000"/>
              </a:lnSpc>
              <a:spcBef>
                <a:spcPct val="0"/>
              </a:spcBef>
              <a:spcAft>
                <a:spcPct val="0"/>
              </a:spcAft>
              <a:buClr>
                <a:schemeClr val="accent3">
                  <a:lumMod val="75000"/>
                </a:schemeClr>
              </a:buClr>
              <a:buSzTx/>
              <a:buFont typeface="Wingdings" panose="05000000000000000000" pitchFamily="2" charset="2"/>
              <a:buChar char="v"/>
              <a:tabLst/>
            </a:pPr>
            <a:r>
              <a:rPr kumimoji="0" lang="it-IT" altLang="it-IT" sz="2000" b="1" i="0" u="none" strike="noStrike" cap="none" normalizeH="0" baseline="0" dirty="0">
                <a:ln>
                  <a:noFill/>
                </a:ln>
                <a:solidFill>
                  <a:schemeClr val="bg1"/>
                </a:solidFill>
                <a:effectLst/>
                <a:latin typeface="Titillium Web" panose="00000500000000000000" pitchFamily="2" charset="0"/>
              </a:rPr>
              <a:t>Sfida:</a:t>
            </a:r>
            <a:r>
              <a:rPr kumimoji="0" lang="it-IT" altLang="it-IT" sz="2000" b="0" i="0" u="none" strike="noStrike" cap="none" normalizeH="0" baseline="0" dirty="0">
                <a:ln>
                  <a:noFill/>
                </a:ln>
                <a:solidFill>
                  <a:schemeClr val="bg1"/>
                </a:solidFill>
                <a:effectLst/>
                <a:latin typeface="Titillium Web" panose="00000500000000000000" pitchFamily="2" charset="0"/>
              </a:rPr>
              <a:t> Implementare il </a:t>
            </a:r>
            <a:r>
              <a:rPr kumimoji="0" lang="it-IT" altLang="it-IT" sz="2000" b="1" i="0" u="none" strike="noStrike" cap="none" normalizeH="0" baseline="0" dirty="0">
                <a:ln>
                  <a:noFill/>
                </a:ln>
                <a:solidFill>
                  <a:schemeClr val="bg1"/>
                </a:solidFill>
                <a:effectLst/>
                <a:latin typeface="Titillium Web" panose="00000500000000000000" pitchFamily="2" charset="0"/>
              </a:rPr>
              <a:t>Ray Tracing</a:t>
            </a:r>
            <a:r>
              <a:rPr kumimoji="0" lang="it-IT" altLang="it-IT" sz="2000" b="0" i="0" u="none" strike="noStrike" cap="none" normalizeH="0" baseline="0" dirty="0">
                <a:ln>
                  <a:noFill/>
                </a:ln>
                <a:solidFill>
                  <a:schemeClr val="bg1"/>
                </a:solidFill>
                <a:effectLst/>
                <a:latin typeface="Titillium Web" panose="00000500000000000000" pitchFamily="2" charset="0"/>
              </a:rPr>
              <a:t> per gestire le occlusioni (i muri devono nascondere ciò che c'è dietro).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2000" b="0" i="0" u="none" strike="noStrike" cap="none" normalizeH="0" baseline="0" dirty="0">
              <a:ln>
                <a:noFill/>
              </a:ln>
              <a:solidFill>
                <a:schemeClr val="bg1"/>
              </a:solidFill>
              <a:effectLst/>
              <a:latin typeface="Arial" panose="020B0604020202020204" pitchFamily="34" charset="0"/>
            </a:endParaRPr>
          </a:p>
        </p:txBody>
      </p:sp>
      <p:sp>
        <p:nvSpPr>
          <p:cNvPr id="2" name="Titolo 3">
            <a:extLst>
              <a:ext uri="{FF2B5EF4-FFF2-40B4-BE49-F238E27FC236}">
                <a16:creationId xmlns:a16="http://schemas.microsoft.com/office/drawing/2014/main" id="{0D0A23E5-DBEE-9346-4928-1D56A30A3488}"/>
              </a:ext>
            </a:extLst>
          </p:cNvPr>
          <p:cNvSpPr txBox="1">
            <a:spLocks/>
          </p:cNvSpPr>
          <p:nvPr/>
        </p:nvSpPr>
        <p:spPr>
          <a:xfrm>
            <a:off x="457200" y="434575"/>
            <a:ext cx="821817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Generazione Vista Virtuale (Approccio)</a:t>
            </a:r>
          </a:p>
        </p:txBody>
      </p:sp>
      <p:sp>
        <p:nvSpPr>
          <p:cNvPr id="7" name="CasellaDiTesto 6">
            <a:extLst>
              <a:ext uri="{FF2B5EF4-FFF2-40B4-BE49-F238E27FC236}">
                <a16:creationId xmlns:a16="http://schemas.microsoft.com/office/drawing/2014/main" id="{DAA90CD3-393D-DA0B-18AD-8561CC99829B}"/>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494007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EE5DB519-5681-CC76-0169-00EBFAC8426C}"/>
              </a:ext>
            </a:extLst>
          </p:cNvPr>
          <p:cNvSpPr>
            <a:spLocks noGrp="1"/>
          </p:cNvSpPr>
          <p:nvPr>
            <p:ph type="body" idx="1"/>
          </p:nvPr>
        </p:nvSpPr>
        <p:spPr>
          <a:xfrm>
            <a:off x="457200" y="1919591"/>
            <a:ext cx="8087381" cy="1789890"/>
          </a:xfrm>
        </p:spPr>
        <p:txBody>
          <a:bodyPr/>
          <a:lstStyle/>
          <a:p>
            <a:pPr marL="76200" indent="0">
              <a:buNone/>
            </a:pPr>
            <a:r>
              <a:rPr lang="it-IT" sz="2100" dirty="0">
                <a:solidFill>
                  <a:schemeClr val="bg1"/>
                </a:solidFill>
                <a:latin typeface="Titillium Web" panose="00000500000000000000" pitchFamily="2" charset="0"/>
              </a:rPr>
              <a:t>Il primo tentativo di utilizzare la classe suggerita </a:t>
            </a:r>
            <a:r>
              <a:rPr lang="it-IT" sz="2100" dirty="0" err="1">
                <a:solidFill>
                  <a:schemeClr val="bg1"/>
                </a:solidFill>
                <a:latin typeface="Courier New" panose="02070309020205020404" pitchFamily="49" charset="0"/>
                <a:cs typeface="Courier New" panose="02070309020205020404" pitchFamily="49" charset="0"/>
              </a:rPr>
              <a:t>pcl</a:t>
            </a:r>
            <a:r>
              <a:rPr lang="it-IT" sz="2100" dirty="0">
                <a:solidFill>
                  <a:schemeClr val="bg1"/>
                </a:solidFill>
                <a:latin typeface="Courier New" panose="02070309020205020404" pitchFamily="49" charset="0"/>
                <a:cs typeface="Courier New" panose="02070309020205020404" pitchFamily="49" charset="0"/>
              </a:rPr>
              <a:t>::</a:t>
            </a:r>
            <a:r>
              <a:rPr lang="it-IT" sz="2100" dirty="0" err="1">
                <a:solidFill>
                  <a:schemeClr val="bg1"/>
                </a:solidFill>
                <a:latin typeface="Courier New" panose="02070309020205020404" pitchFamily="49" charset="0"/>
                <a:cs typeface="Courier New" panose="02070309020205020404" pitchFamily="49" charset="0"/>
              </a:rPr>
              <a:t>VoxelGridOcclusionEstimation</a:t>
            </a:r>
            <a:r>
              <a:rPr lang="it-IT" sz="2100" dirty="0">
                <a:solidFill>
                  <a:schemeClr val="bg1"/>
                </a:solidFill>
                <a:latin typeface="Courier New" panose="02070309020205020404" pitchFamily="49" charset="0"/>
                <a:cs typeface="Courier New" panose="02070309020205020404" pitchFamily="49" charset="0"/>
              </a:rPr>
              <a:t> </a:t>
            </a:r>
            <a:r>
              <a:rPr lang="it-IT" sz="2100" dirty="0">
                <a:solidFill>
                  <a:schemeClr val="bg1"/>
                </a:solidFill>
                <a:latin typeface="Titillium Web" panose="00000500000000000000" pitchFamily="2" charset="0"/>
              </a:rPr>
              <a:t>è fallito in fase di compilazione. Il metodo </a:t>
            </a:r>
            <a:r>
              <a:rPr lang="it-IT" sz="2100" dirty="0">
                <a:solidFill>
                  <a:schemeClr val="bg1"/>
                </a:solidFill>
                <a:latin typeface="Courier New" panose="02070309020205020404" pitchFamily="49" charset="0"/>
                <a:cs typeface="Courier New" panose="02070309020205020404" pitchFamily="49" charset="0"/>
              </a:rPr>
              <a:t>.</a:t>
            </a:r>
            <a:r>
              <a:rPr lang="it-IT" sz="2100" dirty="0" err="1">
                <a:solidFill>
                  <a:schemeClr val="bg1"/>
                </a:solidFill>
                <a:latin typeface="Courier New" panose="02070309020205020404" pitchFamily="49" charset="0"/>
                <a:cs typeface="Courier New" panose="02070309020205020404" pitchFamily="49" charset="0"/>
              </a:rPr>
              <a:t>setViewPoint</a:t>
            </a:r>
            <a:r>
              <a:rPr lang="it-IT" sz="2100" dirty="0">
                <a:solidFill>
                  <a:schemeClr val="bg1"/>
                </a:solidFill>
                <a:latin typeface="Courier New" panose="02070309020205020404" pitchFamily="49" charset="0"/>
                <a:cs typeface="Courier New" panose="02070309020205020404" pitchFamily="49" charset="0"/>
              </a:rPr>
              <a:t>()</a:t>
            </a:r>
            <a:r>
              <a:rPr lang="it-IT" sz="2100" dirty="0">
                <a:solidFill>
                  <a:schemeClr val="bg1"/>
                </a:solidFill>
                <a:latin typeface="Titillium Web" panose="00000500000000000000" pitchFamily="2" charset="0"/>
              </a:rPr>
              <a:t>, necessario per posizionare il sensore virtuale, non esisteva nella versione della libreria PCL installata (1.14).</a:t>
            </a:r>
            <a:endParaRPr lang="it-IT" sz="2100" b="1" dirty="0">
              <a:solidFill>
                <a:schemeClr val="bg1"/>
              </a:solidFill>
              <a:latin typeface="Titillium Web" panose="00000500000000000000" pitchFamily="2" charset="0"/>
            </a:endParaRPr>
          </a:p>
        </p:txBody>
      </p:sp>
      <p:sp>
        <p:nvSpPr>
          <p:cNvPr id="4" name="Segnaposto numero diapositiva 3">
            <a:extLst>
              <a:ext uri="{FF2B5EF4-FFF2-40B4-BE49-F238E27FC236}">
                <a16:creationId xmlns:a16="http://schemas.microsoft.com/office/drawing/2014/main" id="{4F1486E0-EE55-7CDA-4D4E-076D8840BC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17</a:t>
            </a:fld>
            <a:endParaRPr lang="it-IT"/>
          </a:p>
        </p:txBody>
      </p:sp>
      <p:sp>
        <p:nvSpPr>
          <p:cNvPr id="5" name="Titolo 3">
            <a:extLst>
              <a:ext uri="{FF2B5EF4-FFF2-40B4-BE49-F238E27FC236}">
                <a16:creationId xmlns:a16="http://schemas.microsoft.com/office/drawing/2014/main" id="{B1DAB255-7F6F-F67D-8EC1-12EA26B8738E}"/>
              </a:ext>
            </a:extLst>
          </p:cNvPr>
          <p:cNvSpPr txBox="1">
            <a:spLocks/>
          </p:cNvSpPr>
          <p:nvPr/>
        </p:nvSpPr>
        <p:spPr>
          <a:xfrm>
            <a:off x="457200" y="434574"/>
            <a:ext cx="8218170" cy="112185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Fallimento di </a:t>
            </a:r>
            <a:r>
              <a:rPr lang="it-IT" sz="3600" dirty="0" err="1">
                <a:solidFill>
                  <a:schemeClr val="bg1"/>
                </a:solidFill>
                <a:latin typeface="Courier New" panose="02070309020205020404" pitchFamily="49" charset="0"/>
                <a:cs typeface="Courier New" panose="02070309020205020404" pitchFamily="49" charset="0"/>
              </a:rPr>
              <a:t>VoxelGridOcclusionEstimation</a:t>
            </a:r>
            <a:r>
              <a:rPr lang="it-IT" sz="3600" dirty="0"/>
              <a:t> </a:t>
            </a:r>
          </a:p>
        </p:txBody>
      </p:sp>
      <p:sp>
        <p:nvSpPr>
          <p:cNvPr id="6" name="CasellaDiTesto 5">
            <a:extLst>
              <a:ext uri="{FF2B5EF4-FFF2-40B4-BE49-F238E27FC236}">
                <a16:creationId xmlns:a16="http://schemas.microsoft.com/office/drawing/2014/main" id="{6074FE82-4234-A843-D1C1-FDC2DD758B28}"/>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067034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EC5AC-8F29-5450-FF6A-82CC99820574}"/>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60301643-B880-3D37-D85A-06561EE94A30}"/>
              </a:ext>
            </a:extLst>
          </p:cNvPr>
          <p:cNvSpPr>
            <a:spLocks noGrp="1"/>
          </p:cNvSpPr>
          <p:nvPr>
            <p:ph type="body" idx="1"/>
          </p:nvPr>
        </p:nvSpPr>
        <p:spPr>
          <a:xfrm>
            <a:off x="457200" y="1776919"/>
            <a:ext cx="8087381" cy="2457855"/>
          </a:xfrm>
        </p:spPr>
        <p:txBody>
          <a:bodyPr/>
          <a:lstStyle/>
          <a:p>
            <a:pPr marL="76200" indent="0">
              <a:buNone/>
            </a:pPr>
            <a:r>
              <a:rPr lang="it-IT" altLang="it-IT" sz="2100" dirty="0">
                <a:solidFill>
                  <a:schemeClr val="bg1"/>
                </a:solidFill>
                <a:latin typeface="Titillium Web" panose="00000500000000000000" pitchFamily="2" charset="0"/>
              </a:rPr>
              <a:t>Per aggirare la mancanza di </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err="1">
                <a:solidFill>
                  <a:schemeClr val="bg1"/>
                </a:solidFill>
                <a:latin typeface="Courier New" panose="02070309020205020404" pitchFamily="49" charset="0"/>
                <a:cs typeface="Courier New" panose="02070309020205020404" pitchFamily="49" charset="0"/>
              </a:rPr>
              <a:t>setViewPoint</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a:solidFill>
                  <a:schemeClr val="bg1"/>
                </a:solidFill>
                <a:latin typeface="Titillium Web" panose="00000500000000000000" pitchFamily="2" charset="0"/>
              </a:rPr>
              <a:t>, è stata implementata una soluzione geometrica. Invece di spostare il sensore verso la posizione t, abbiamo spostato l'intero mondo (la mappa) verso il sensore (che rimaneva fisso in 0,0,0) applicando la trasformazione inversa (</a:t>
            </a:r>
            <a:r>
              <a:rPr lang="it-IT" altLang="it-IT" sz="2100" dirty="0" err="1">
                <a:solidFill>
                  <a:schemeClr val="bg1"/>
                </a:solidFill>
                <a:latin typeface="Courier New" panose="02070309020205020404" pitchFamily="49" charset="0"/>
                <a:cs typeface="Courier New" panose="02070309020205020404" pitchFamily="49" charset="0"/>
              </a:rPr>
              <a:t>sensor_pose.inverse</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a:solidFill>
                  <a:schemeClr val="bg1"/>
                </a:solidFill>
                <a:latin typeface="Titillium Web" panose="00000500000000000000" pitchFamily="2" charset="0"/>
              </a:rPr>
              <a:t>)</a:t>
            </a:r>
          </a:p>
          <a:p>
            <a:pPr marL="76200" indent="0">
              <a:buNone/>
            </a:pPr>
            <a:endParaRPr lang="it-IT" altLang="it-IT" sz="2100" baseline="30000" dirty="0">
              <a:solidFill>
                <a:schemeClr val="bg1"/>
              </a:solidFill>
              <a:latin typeface="Titillium Web" panose="00000500000000000000" pitchFamily="2" charset="0"/>
            </a:endParaRPr>
          </a:p>
          <a:p>
            <a:pPr marL="76200" indent="0">
              <a:buNone/>
            </a:pPr>
            <a:r>
              <a:rPr lang="it-IT" sz="2100" dirty="0">
                <a:latin typeface="Titillium Web" panose="00000500000000000000" pitchFamily="2" charset="0"/>
              </a:rPr>
              <a:t>Risultato: Fallimento logico (input = output).</a:t>
            </a:r>
            <a:endParaRPr lang="it-IT" sz="2000" b="1" dirty="0">
              <a:solidFill>
                <a:schemeClr val="bg1"/>
              </a:solidFill>
            </a:endParaRPr>
          </a:p>
        </p:txBody>
      </p:sp>
      <p:sp>
        <p:nvSpPr>
          <p:cNvPr id="4" name="Segnaposto numero diapositiva 3">
            <a:extLst>
              <a:ext uri="{FF2B5EF4-FFF2-40B4-BE49-F238E27FC236}">
                <a16:creationId xmlns:a16="http://schemas.microsoft.com/office/drawing/2014/main" id="{4A9882CC-CC64-CF3A-089F-C1095B4601A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18</a:t>
            </a:fld>
            <a:endParaRPr lang="it-IT"/>
          </a:p>
        </p:txBody>
      </p:sp>
      <p:sp>
        <p:nvSpPr>
          <p:cNvPr id="5" name="Titolo 3">
            <a:extLst>
              <a:ext uri="{FF2B5EF4-FFF2-40B4-BE49-F238E27FC236}">
                <a16:creationId xmlns:a16="http://schemas.microsoft.com/office/drawing/2014/main" id="{462083B6-BFAD-85A4-2AAC-EFE11861338D}"/>
              </a:ext>
            </a:extLst>
          </p:cNvPr>
          <p:cNvSpPr txBox="1">
            <a:spLocks/>
          </p:cNvSpPr>
          <p:nvPr/>
        </p:nvSpPr>
        <p:spPr>
          <a:xfrm>
            <a:off x="457200" y="434574"/>
            <a:ext cx="8218170" cy="112185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Soluzione ‘’Tampone’’ </a:t>
            </a:r>
          </a:p>
          <a:p>
            <a:r>
              <a:rPr lang="it-IT" sz="3600" dirty="0"/>
              <a:t>(Trasformazione Inversa)</a:t>
            </a:r>
          </a:p>
        </p:txBody>
      </p:sp>
      <p:sp>
        <p:nvSpPr>
          <p:cNvPr id="6" name="CasellaDiTesto 5">
            <a:extLst>
              <a:ext uri="{FF2B5EF4-FFF2-40B4-BE49-F238E27FC236}">
                <a16:creationId xmlns:a16="http://schemas.microsoft.com/office/drawing/2014/main" id="{A03971B1-E0C3-E362-87D7-B893343639A0}"/>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3019563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64F93-F2B2-1674-25C9-F7445B2D5DC4}"/>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6EA11FB5-0323-531C-4F39-22333350DC4B}"/>
              </a:ext>
            </a:extLst>
          </p:cNvPr>
          <p:cNvSpPr>
            <a:spLocks noGrp="1"/>
          </p:cNvSpPr>
          <p:nvPr>
            <p:ph type="body" idx="1"/>
          </p:nvPr>
        </p:nvSpPr>
        <p:spPr>
          <a:xfrm>
            <a:off x="457200" y="1575760"/>
            <a:ext cx="8087381" cy="2275766"/>
          </a:xfrm>
        </p:spPr>
        <p:txBody>
          <a:bodyPr/>
          <a:lstStyle/>
          <a:p>
            <a:pPr marL="76200" indent="0">
              <a:buNone/>
            </a:pPr>
            <a:r>
              <a:rPr lang="it-IT" sz="2100" dirty="0"/>
              <a:t>Sebbene il codice compilasse, l'esecuzione ha rivelato un errore logico critico: la cloud di output aveva lo stesso numero di punti di quella di input. Il filtro non stava rimuovendo i punti occlusi. </a:t>
            </a:r>
          </a:p>
          <a:p>
            <a:pPr marL="76200" indent="0">
              <a:buNone/>
            </a:pPr>
            <a:endParaRPr lang="it-IT" sz="2100" b="1" dirty="0">
              <a:solidFill>
                <a:schemeClr val="bg1"/>
              </a:solidFill>
            </a:endParaRPr>
          </a:p>
          <a:p>
            <a:pPr marL="76200" indent="0">
              <a:buNone/>
            </a:pPr>
            <a:r>
              <a:rPr lang="it-IT" sz="2100" b="1" i="1" dirty="0"/>
              <a:t>Decisione</a:t>
            </a:r>
            <a:r>
              <a:rPr lang="it-IT" sz="2100" b="1" dirty="0"/>
              <a:t>:</a:t>
            </a:r>
            <a:r>
              <a:rPr lang="it-IT" sz="2100" dirty="0"/>
              <a:t> Abbandonare la classe perché inaffidabile per il nostro caso d'uso specifico e passare a un approccio di simulazione più esplicito.</a:t>
            </a:r>
            <a:endParaRPr lang="it-IT" sz="2000" b="1" dirty="0">
              <a:solidFill>
                <a:schemeClr val="bg1"/>
              </a:solidFill>
            </a:endParaRPr>
          </a:p>
          <a:p>
            <a:pPr marL="76200" indent="0">
              <a:buNone/>
            </a:pPr>
            <a:endParaRPr lang="it-IT" sz="2000" b="1" dirty="0">
              <a:solidFill>
                <a:schemeClr val="bg1"/>
              </a:solidFill>
            </a:endParaRPr>
          </a:p>
          <a:p>
            <a:pPr marL="76200" indent="0">
              <a:buNone/>
            </a:pPr>
            <a:endParaRPr lang="it-IT" sz="2000" dirty="0">
              <a:solidFill>
                <a:schemeClr val="bg1"/>
              </a:solidFill>
            </a:endParaRPr>
          </a:p>
        </p:txBody>
      </p:sp>
      <p:sp>
        <p:nvSpPr>
          <p:cNvPr id="4" name="Segnaposto numero diapositiva 3">
            <a:extLst>
              <a:ext uri="{FF2B5EF4-FFF2-40B4-BE49-F238E27FC236}">
                <a16:creationId xmlns:a16="http://schemas.microsoft.com/office/drawing/2014/main" id="{E38DA77C-B872-DC98-6BAB-EE9F3FF131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19</a:t>
            </a:fld>
            <a:endParaRPr lang="it-IT"/>
          </a:p>
        </p:txBody>
      </p:sp>
      <p:sp>
        <p:nvSpPr>
          <p:cNvPr id="2" name="Titolo 3">
            <a:extLst>
              <a:ext uri="{FF2B5EF4-FFF2-40B4-BE49-F238E27FC236}">
                <a16:creationId xmlns:a16="http://schemas.microsoft.com/office/drawing/2014/main" id="{E30954D3-0717-CA16-8073-24E4B8ABECD4}"/>
              </a:ext>
            </a:extLst>
          </p:cNvPr>
          <p:cNvSpPr txBox="1">
            <a:spLocks/>
          </p:cNvSpPr>
          <p:nvPr/>
        </p:nvSpPr>
        <p:spPr>
          <a:xfrm>
            <a:off x="457200" y="434575"/>
            <a:ext cx="821817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Fallimento Logico &amp; Cambio Direzione</a:t>
            </a:r>
          </a:p>
        </p:txBody>
      </p:sp>
      <p:sp>
        <p:nvSpPr>
          <p:cNvPr id="6" name="CasellaDiTesto 5">
            <a:extLst>
              <a:ext uri="{FF2B5EF4-FFF2-40B4-BE49-F238E27FC236}">
                <a16:creationId xmlns:a16="http://schemas.microsoft.com/office/drawing/2014/main" id="{84110DF5-088E-2DF7-105A-7956D15A152C}"/>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932178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B7C34-1BFE-71D9-D565-7F512ADEF298}"/>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1C2AC042-35EB-6C1B-CAC2-636AB16A6F26}"/>
              </a:ext>
            </a:extLst>
          </p:cNvPr>
          <p:cNvSpPr>
            <a:spLocks noGrp="1"/>
          </p:cNvSpPr>
          <p:nvPr>
            <p:ph type="body" idx="1"/>
          </p:nvPr>
        </p:nvSpPr>
        <p:spPr>
          <a:xfrm>
            <a:off x="457200" y="1757717"/>
            <a:ext cx="8087381" cy="2295474"/>
          </a:xfrm>
        </p:spPr>
        <p:txBody>
          <a:bodyPr/>
          <a:lstStyle/>
          <a:p>
            <a:pPr marL="0" lvl="0" indent="0" eaLnBrk="0" fontAlgn="base" hangingPunct="0">
              <a:spcBef>
                <a:spcPct val="0"/>
              </a:spcBef>
              <a:spcAft>
                <a:spcPct val="0"/>
              </a:spcAft>
              <a:buClrTx/>
              <a:buSzTx/>
              <a:buNone/>
            </a:pPr>
            <a:r>
              <a:rPr lang="it-IT" altLang="it-IT" sz="2100" b="1" dirty="0">
                <a:solidFill>
                  <a:schemeClr val="bg1"/>
                </a:solidFill>
                <a:latin typeface="Titillium Web" panose="00000500000000000000" pitchFamily="2" charset="0"/>
              </a:rPr>
              <a:t>Soluzione Architetturale:</a:t>
            </a:r>
            <a:r>
              <a:rPr lang="it-IT" altLang="it-IT" sz="2100" dirty="0">
                <a:solidFill>
                  <a:schemeClr val="bg1"/>
                </a:solidFill>
                <a:latin typeface="Titillium Web" panose="00000500000000000000" pitchFamily="2" charset="0"/>
              </a:rPr>
              <a:t> Si è scelto di utilizzare </a:t>
            </a:r>
            <a:r>
              <a:rPr lang="it-IT" altLang="it-IT" sz="2100" dirty="0" err="1">
                <a:solidFill>
                  <a:schemeClr val="bg1"/>
                </a:solidFill>
                <a:latin typeface="Courier New" panose="02070309020205020404" pitchFamily="49" charset="0"/>
                <a:cs typeface="Courier New" panose="02070309020205020404" pitchFamily="49" charset="0"/>
              </a:rPr>
              <a:t>pcl</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err="1">
                <a:solidFill>
                  <a:schemeClr val="bg1"/>
                </a:solidFill>
                <a:latin typeface="Courier New" panose="02070309020205020404" pitchFamily="49" charset="0"/>
                <a:cs typeface="Courier New" panose="02070309020205020404" pitchFamily="49" charset="0"/>
              </a:rPr>
              <a:t>RangeImage</a:t>
            </a:r>
            <a:r>
              <a:rPr lang="it-IT" altLang="it-IT" sz="2100" dirty="0">
                <a:solidFill>
                  <a:schemeClr val="bg1"/>
                </a:solidFill>
                <a:latin typeface="Titillium Web" panose="00000500000000000000" pitchFamily="2" charset="0"/>
              </a:rPr>
              <a:t>.</a:t>
            </a:r>
          </a:p>
          <a:p>
            <a:pPr marL="0" lvl="0" indent="0" eaLnBrk="0" fontAlgn="base" hangingPunct="0">
              <a:spcBef>
                <a:spcPct val="0"/>
              </a:spcBef>
              <a:spcAft>
                <a:spcPct val="0"/>
              </a:spcAft>
              <a:buClrTx/>
              <a:buSzTx/>
              <a:buNone/>
            </a:pPr>
            <a:endParaRPr lang="it-IT" altLang="it-IT" sz="2100" b="1" dirty="0">
              <a:solidFill>
                <a:schemeClr val="bg1"/>
              </a:solidFill>
              <a:latin typeface="Titillium Web" panose="00000500000000000000" pitchFamily="2" charset="0"/>
            </a:endParaRPr>
          </a:p>
          <a:p>
            <a:pPr marL="0" lvl="0" indent="0" eaLnBrk="0" fontAlgn="base" hangingPunct="0">
              <a:spcBef>
                <a:spcPct val="0"/>
              </a:spcBef>
              <a:spcAft>
                <a:spcPct val="0"/>
              </a:spcAft>
              <a:buClrTx/>
              <a:buSzTx/>
              <a:buNone/>
            </a:pPr>
            <a:r>
              <a:rPr lang="it-IT" altLang="it-IT" sz="2100" b="1" dirty="0">
                <a:solidFill>
                  <a:schemeClr val="bg1"/>
                </a:solidFill>
                <a:latin typeface="Titillium Web" panose="00000500000000000000" pitchFamily="2" charset="0"/>
              </a:rPr>
              <a:t>Perché questa soluzione?</a:t>
            </a:r>
            <a:r>
              <a:rPr lang="it-IT" altLang="it-IT" sz="2100" dirty="0">
                <a:solidFill>
                  <a:schemeClr val="bg1"/>
                </a:solidFill>
                <a:latin typeface="Titillium Web" panose="00000500000000000000" pitchFamily="2" charset="0"/>
              </a:rPr>
              <a:t> A differenza di un filtro generico, </a:t>
            </a:r>
            <a:r>
              <a:rPr lang="it-IT" altLang="it-IT" sz="2100" dirty="0" err="1">
                <a:solidFill>
                  <a:schemeClr val="bg1"/>
                </a:solidFill>
                <a:latin typeface="Titillium Web" panose="00000500000000000000" pitchFamily="2" charset="0"/>
              </a:rPr>
              <a:t>RangeImage</a:t>
            </a:r>
            <a:r>
              <a:rPr lang="it-IT" altLang="it-IT" sz="2100" dirty="0">
                <a:solidFill>
                  <a:schemeClr val="bg1"/>
                </a:solidFill>
                <a:latin typeface="Titillium Web" panose="00000500000000000000" pitchFamily="2" charset="0"/>
              </a:rPr>
              <a:t> è progettata specificamente per simulare la fisica di un sensore (come un </a:t>
            </a:r>
            <a:r>
              <a:rPr lang="it-IT" altLang="it-IT" sz="2100" dirty="0" err="1">
                <a:solidFill>
                  <a:schemeClr val="bg1"/>
                </a:solidFill>
                <a:latin typeface="Titillium Web" panose="00000500000000000000" pitchFamily="2" charset="0"/>
              </a:rPr>
              <a:t>LiDAR</a:t>
            </a:r>
            <a:r>
              <a:rPr lang="it-IT" altLang="it-IT" sz="2100" dirty="0">
                <a:solidFill>
                  <a:schemeClr val="bg1"/>
                </a:solidFill>
                <a:latin typeface="Titillium Web" panose="00000500000000000000" pitchFamily="2" charset="0"/>
              </a:rPr>
              <a:t>). Crea una proiezione sferica della scena da un punto specifico, emulando naturalmente il processo di acquisizione e, di conseguenza, il fenomeno dell'occlusione.</a:t>
            </a:r>
          </a:p>
        </p:txBody>
      </p:sp>
      <p:sp>
        <p:nvSpPr>
          <p:cNvPr id="4" name="Segnaposto numero diapositiva 3">
            <a:extLst>
              <a:ext uri="{FF2B5EF4-FFF2-40B4-BE49-F238E27FC236}">
                <a16:creationId xmlns:a16="http://schemas.microsoft.com/office/drawing/2014/main" id="{94FCAB06-065D-40C3-5EE9-45F3C5CBE2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20</a:t>
            </a:fld>
            <a:endParaRPr lang="it-IT"/>
          </a:p>
        </p:txBody>
      </p:sp>
      <p:sp>
        <p:nvSpPr>
          <p:cNvPr id="5" name="Titolo 3">
            <a:extLst>
              <a:ext uri="{FF2B5EF4-FFF2-40B4-BE49-F238E27FC236}">
                <a16:creationId xmlns:a16="http://schemas.microsoft.com/office/drawing/2014/main" id="{1AEB9AC8-31AD-46F9-97D4-CCCD28C7E539}"/>
              </a:ext>
            </a:extLst>
          </p:cNvPr>
          <p:cNvSpPr txBox="1">
            <a:spLocks/>
          </p:cNvSpPr>
          <p:nvPr/>
        </p:nvSpPr>
        <p:spPr>
          <a:xfrm>
            <a:off x="457200" y="434575"/>
            <a:ext cx="8218170" cy="103754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Adozione di </a:t>
            </a:r>
            <a:r>
              <a:rPr lang="it-IT" sz="3600" dirty="0" err="1">
                <a:latin typeface="Courier New" panose="02070309020205020404" pitchFamily="49" charset="0"/>
                <a:cs typeface="Courier New" panose="02070309020205020404" pitchFamily="49" charset="0"/>
              </a:rPr>
              <a:t>pcl</a:t>
            </a:r>
            <a:r>
              <a:rPr lang="it-IT" sz="3600" dirty="0">
                <a:latin typeface="Courier New" panose="02070309020205020404" pitchFamily="49" charset="0"/>
                <a:cs typeface="Courier New" panose="02070309020205020404" pitchFamily="49" charset="0"/>
              </a:rPr>
              <a:t>::</a:t>
            </a:r>
            <a:r>
              <a:rPr lang="it-IT" sz="3600" dirty="0" err="1">
                <a:latin typeface="Courier New" panose="02070309020205020404" pitchFamily="49" charset="0"/>
                <a:cs typeface="Courier New" panose="02070309020205020404" pitchFamily="49" charset="0"/>
              </a:rPr>
              <a:t>RangeImage</a:t>
            </a:r>
            <a:r>
              <a:rPr lang="it-IT" sz="3600" dirty="0">
                <a:latin typeface="Courier New" panose="02070309020205020404" pitchFamily="49" charset="0"/>
                <a:cs typeface="Courier New" panose="02070309020205020404" pitchFamily="49" charset="0"/>
              </a:rPr>
              <a:t> </a:t>
            </a:r>
            <a:br>
              <a:rPr lang="it-IT" sz="3600" dirty="0"/>
            </a:br>
            <a:r>
              <a:rPr lang="it-IT" sz="3600" dirty="0"/>
              <a:t>(Simulazione Fisica)</a:t>
            </a:r>
          </a:p>
        </p:txBody>
      </p:sp>
      <p:sp>
        <p:nvSpPr>
          <p:cNvPr id="6" name="CasellaDiTesto 5">
            <a:extLst>
              <a:ext uri="{FF2B5EF4-FFF2-40B4-BE49-F238E27FC236}">
                <a16:creationId xmlns:a16="http://schemas.microsoft.com/office/drawing/2014/main" id="{F2FCE4B6-0878-E715-2685-BE355FFA1F53}"/>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1294389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7EDDC-F2FA-CB7D-97A7-D2A43E22EE1B}"/>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A9002AF4-4EC3-22ED-9EBD-0BCA5F3AA0EB}"/>
              </a:ext>
            </a:extLst>
          </p:cNvPr>
          <p:cNvSpPr>
            <a:spLocks noGrp="1"/>
          </p:cNvSpPr>
          <p:nvPr>
            <p:ph type="body" idx="1"/>
          </p:nvPr>
        </p:nvSpPr>
        <p:spPr>
          <a:xfrm>
            <a:off x="457200" y="1555962"/>
            <a:ext cx="8087381" cy="2944702"/>
          </a:xfrm>
        </p:spPr>
        <p:txBody>
          <a:bodyPr/>
          <a:lstStyle/>
          <a:p>
            <a:pPr marL="0" lvl="0" indent="0" eaLnBrk="0" fontAlgn="base" hangingPunct="0">
              <a:spcBef>
                <a:spcPct val="0"/>
              </a:spcBef>
              <a:spcAft>
                <a:spcPct val="0"/>
              </a:spcAft>
              <a:buClrTx/>
              <a:buSzTx/>
              <a:buNone/>
            </a:pPr>
            <a:r>
              <a:rPr lang="it-IT" altLang="it-IT" sz="2100" b="1" dirty="0">
                <a:solidFill>
                  <a:schemeClr val="bg1"/>
                </a:solidFill>
                <a:latin typeface="Titillium Web" panose="00000500000000000000" pitchFamily="2" charset="0"/>
              </a:rPr>
              <a:t>Il Problema:</a:t>
            </a:r>
            <a:r>
              <a:rPr lang="it-IT" altLang="it-IT" sz="2100" dirty="0">
                <a:solidFill>
                  <a:schemeClr val="bg1"/>
                </a:solidFill>
                <a:latin typeface="Titillium Web" panose="00000500000000000000" pitchFamily="2" charset="0"/>
              </a:rPr>
              <a:t> Una volta generata l'immagine di profondità (</a:t>
            </a:r>
            <a:r>
              <a:rPr lang="it-IT" altLang="it-IT" sz="2100" dirty="0" err="1">
                <a:solidFill>
                  <a:schemeClr val="bg1"/>
                </a:solidFill>
                <a:latin typeface="Titillium Web" panose="00000500000000000000" pitchFamily="2" charset="0"/>
              </a:rPr>
              <a:t>RangeImage</a:t>
            </a:r>
            <a:r>
              <a:rPr lang="it-IT" altLang="it-IT" sz="2100" dirty="0">
                <a:solidFill>
                  <a:schemeClr val="bg1"/>
                </a:solidFill>
                <a:latin typeface="Titillium Web" panose="00000500000000000000" pitchFamily="2" charset="0"/>
              </a:rPr>
              <a:t>), bisognava riconvertirla in </a:t>
            </a:r>
            <a:r>
              <a:rPr lang="it-IT" altLang="it-IT" sz="2100">
                <a:solidFill>
                  <a:schemeClr val="bg1"/>
                </a:solidFill>
                <a:latin typeface="Titillium Web" panose="00000500000000000000" pitchFamily="2" charset="0"/>
              </a:rPr>
              <a:t>una point cloud </a:t>
            </a:r>
            <a:r>
              <a:rPr lang="it-IT" altLang="it-IT" sz="2100" dirty="0">
                <a:solidFill>
                  <a:schemeClr val="bg1"/>
                </a:solidFill>
                <a:latin typeface="Titillium Web" panose="00000500000000000000" pitchFamily="2" charset="0"/>
              </a:rPr>
              <a:t>3D classica (</a:t>
            </a:r>
            <a:r>
              <a:rPr lang="it-IT" altLang="it-IT" sz="2100" dirty="0" err="1">
                <a:solidFill>
                  <a:schemeClr val="bg1"/>
                </a:solidFill>
                <a:latin typeface="Courier New" panose="02070309020205020404" pitchFamily="49" charset="0"/>
                <a:cs typeface="Courier New" panose="02070309020205020404" pitchFamily="49" charset="0"/>
              </a:rPr>
              <a:t>PointCloud</a:t>
            </a:r>
            <a:r>
              <a:rPr lang="it-IT" altLang="it-IT" sz="2100" dirty="0">
                <a:solidFill>
                  <a:schemeClr val="bg1"/>
                </a:solidFill>
                <a:latin typeface="Courier New" panose="02070309020205020404" pitchFamily="49" charset="0"/>
                <a:cs typeface="Courier New" panose="02070309020205020404" pitchFamily="49" charset="0"/>
              </a:rPr>
              <a:t>&lt;</a:t>
            </a:r>
            <a:r>
              <a:rPr lang="it-IT" altLang="it-IT" sz="2100" dirty="0" err="1">
                <a:solidFill>
                  <a:schemeClr val="bg1"/>
                </a:solidFill>
                <a:latin typeface="Courier New" panose="02070309020205020404" pitchFamily="49" charset="0"/>
                <a:cs typeface="Courier New" panose="02070309020205020404" pitchFamily="49" charset="0"/>
              </a:rPr>
              <a:t>PointXYZ</a:t>
            </a:r>
            <a:r>
              <a:rPr lang="it-IT" altLang="it-IT" sz="2100" dirty="0">
                <a:solidFill>
                  <a:schemeClr val="bg1"/>
                </a:solidFill>
                <a:latin typeface="Courier New" panose="02070309020205020404" pitchFamily="49" charset="0"/>
                <a:cs typeface="Courier New" panose="02070309020205020404" pitchFamily="49" charset="0"/>
              </a:rPr>
              <a:t>&gt;</a:t>
            </a:r>
            <a:r>
              <a:rPr lang="it-IT" altLang="it-IT" sz="2100" dirty="0">
                <a:solidFill>
                  <a:schemeClr val="bg1"/>
                </a:solidFill>
                <a:latin typeface="Titillium Web" panose="00000500000000000000" pitchFamily="2" charset="0"/>
              </a:rPr>
              <a:t>) per poterla salvare. Il tentativo di usare un metodo automatico (</a:t>
            </a:r>
            <a:r>
              <a:rPr lang="it-IT" altLang="it-IT" sz="2100" dirty="0" err="1">
                <a:solidFill>
                  <a:schemeClr val="bg1"/>
                </a:solidFill>
                <a:latin typeface="Courier New" panose="02070309020205020404" pitchFamily="49" charset="0"/>
                <a:cs typeface="Courier New" panose="02070309020205020404" pitchFamily="49" charset="0"/>
              </a:rPr>
              <a:t>range_image.getPointCloud</a:t>
            </a:r>
            <a:r>
              <a:rPr lang="it-IT" altLang="it-IT" sz="2100" dirty="0">
                <a:solidFill>
                  <a:schemeClr val="bg1"/>
                </a:solidFill>
                <a:latin typeface="Courier New" panose="02070309020205020404" pitchFamily="49" charset="0"/>
                <a:cs typeface="Courier New" panose="02070309020205020404" pitchFamily="49" charset="0"/>
              </a:rPr>
              <a:t>()</a:t>
            </a:r>
            <a:r>
              <a:rPr lang="it-IT" altLang="it-IT" sz="2100" dirty="0">
                <a:solidFill>
                  <a:schemeClr val="bg1"/>
                </a:solidFill>
                <a:latin typeface="Titillium Web" panose="00000500000000000000" pitchFamily="2" charset="0"/>
              </a:rPr>
              <a:t>) ha causato un errore di compilazione perché tale metodo non era disponibile o accessibile in quel contesto.</a:t>
            </a:r>
          </a:p>
          <a:p>
            <a:pPr marL="0" lvl="0" indent="0" eaLnBrk="0" fontAlgn="base" hangingPunct="0">
              <a:spcBef>
                <a:spcPct val="0"/>
              </a:spcBef>
              <a:spcAft>
                <a:spcPct val="0"/>
              </a:spcAft>
              <a:buClrTx/>
              <a:buSzTx/>
              <a:buNone/>
            </a:pPr>
            <a:endParaRPr lang="it-IT" altLang="it-IT" sz="2100" dirty="0">
              <a:solidFill>
                <a:schemeClr val="bg1"/>
              </a:solidFill>
              <a:latin typeface="Titillium Web" panose="00000500000000000000" pitchFamily="2" charset="0"/>
            </a:endParaRPr>
          </a:p>
          <a:p>
            <a:pPr marL="0" lvl="0" indent="0" eaLnBrk="0" fontAlgn="base" hangingPunct="0">
              <a:spcBef>
                <a:spcPct val="0"/>
              </a:spcBef>
              <a:spcAft>
                <a:spcPct val="0"/>
              </a:spcAft>
              <a:buClrTx/>
              <a:buSzTx/>
              <a:buNone/>
            </a:pPr>
            <a:r>
              <a:rPr lang="it-IT" altLang="it-IT" sz="2100" b="1" dirty="0">
                <a:solidFill>
                  <a:schemeClr val="bg1"/>
                </a:solidFill>
                <a:latin typeface="Titillium Web" panose="00000500000000000000" pitchFamily="2" charset="0"/>
              </a:rPr>
              <a:t>Soluzione Implementata:</a:t>
            </a:r>
            <a:r>
              <a:rPr lang="it-IT" altLang="it-IT" sz="2100" dirty="0">
                <a:solidFill>
                  <a:schemeClr val="bg1"/>
                </a:solidFill>
                <a:latin typeface="Titillium Web" panose="00000500000000000000" pitchFamily="2" charset="0"/>
              </a:rPr>
              <a:t> Estrazione e filtraggio manuale tramite ciclo for.</a:t>
            </a:r>
          </a:p>
        </p:txBody>
      </p:sp>
      <p:sp>
        <p:nvSpPr>
          <p:cNvPr id="4" name="Segnaposto numero diapositiva 3">
            <a:extLst>
              <a:ext uri="{FF2B5EF4-FFF2-40B4-BE49-F238E27FC236}">
                <a16:creationId xmlns:a16="http://schemas.microsoft.com/office/drawing/2014/main" id="{CC67FDB4-578D-66A5-2ECC-6219C82A38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21</a:t>
            </a:fld>
            <a:endParaRPr lang="it-IT"/>
          </a:p>
        </p:txBody>
      </p:sp>
      <p:sp>
        <p:nvSpPr>
          <p:cNvPr id="5" name="Titolo 3">
            <a:extLst>
              <a:ext uri="{FF2B5EF4-FFF2-40B4-BE49-F238E27FC236}">
                <a16:creationId xmlns:a16="http://schemas.microsoft.com/office/drawing/2014/main" id="{8D6746D0-CFC4-1854-F97B-47CBA7F791C8}"/>
              </a:ext>
            </a:extLst>
          </p:cNvPr>
          <p:cNvSpPr txBox="1">
            <a:spLocks/>
          </p:cNvSpPr>
          <p:nvPr/>
        </p:nvSpPr>
        <p:spPr>
          <a:xfrm>
            <a:off x="457200" y="434575"/>
            <a:ext cx="821817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Problema Estrazione Punti</a:t>
            </a:r>
          </a:p>
        </p:txBody>
      </p:sp>
      <p:sp>
        <p:nvSpPr>
          <p:cNvPr id="7" name="CasellaDiTesto 6">
            <a:extLst>
              <a:ext uri="{FF2B5EF4-FFF2-40B4-BE49-F238E27FC236}">
                <a16:creationId xmlns:a16="http://schemas.microsoft.com/office/drawing/2014/main" id="{AA4B34AE-FA62-F13D-1DBF-5CE948329FAF}"/>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3799057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F4C0-83BD-881F-1CE9-D32D0E859AE3}"/>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3C12F92D-E07D-0DDD-23C1-5C8D97E328E5}"/>
              </a:ext>
            </a:extLst>
          </p:cNvPr>
          <p:cNvSpPr>
            <a:spLocks noGrp="1"/>
          </p:cNvSpPr>
          <p:nvPr>
            <p:ph type="body" idx="1"/>
          </p:nvPr>
        </p:nvSpPr>
        <p:spPr>
          <a:xfrm>
            <a:off x="457200" y="1630714"/>
            <a:ext cx="8087381" cy="2780398"/>
          </a:xfrm>
        </p:spPr>
        <p:txBody>
          <a:bodyPr/>
          <a:lstStyle/>
          <a:p>
            <a:pPr marL="76200" indent="0">
              <a:buNone/>
            </a:pPr>
            <a:r>
              <a:rPr lang="it-IT" sz="2100" dirty="0">
                <a:latin typeface="Titillium Web" panose="00000500000000000000" pitchFamily="2" charset="0"/>
              </a:rPr>
              <a:t>L'oggetto </a:t>
            </a:r>
            <a:r>
              <a:rPr lang="it-IT" sz="2100" dirty="0" err="1">
                <a:latin typeface="Titillium Web" panose="00000500000000000000" pitchFamily="2" charset="0"/>
              </a:rPr>
              <a:t>RangeImage</a:t>
            </a:r>
            <a:r>
              <a:rPr lang="it-IT" sz="2100" dirty="0">
                <a:latin typeface="Titillium Web" panose="00000500000000000000" pitchFamily="2" charset="0"/>
              </a:rPr>
              <a:t> contiene un array di punti, ma include anche valori "infiniti" (INFINITY) per tutti i raggi laser che non hanno colpito alcun ostacolo (es. puntati verso il cielo o lungo il corridoio vuoto).</a:t>
            </a:r>
          </a:p>
          <a:p>
            <a:pPr marL="76200" indent="0">
              <a:buNone/>
            </a:pPr>
            <a:r>
              <a:rPr lang="it-IT" sz="2100" dirty="0">
                <a:latin typeface="Titillium Web" panose="00000500000000000000" pitchFamily="2" charset="0"/>
              </a:rPr>
              <a:t>Non potevamo salvare questi punti "infiniti" nel file </a:t>
            </a:r>
            <a:r>
              <a:rPr lang="it-IT" sz="2100" dirty="0">
                <a:latin typeface="Courier New" panose="02070309020205020404" pitchFamily="49" charset="0"/>
                <a:cs typeface="Courier New" panose="02070309020205020404" pitchFamily="49" charset="0"/>
              </a:rPr>
              <a:t>.</a:t>
            </a:r>
            <a:r>
              <a:rPr lang="it-IT" sz="2100" dirty="0" err="1">
                <a:latin typeface="Courier New" panose="02070309020205020404" pitchFamily="49" charset="0"/>
                <a:cs typeface="Courier New" panose="02070309020205020404" pitchFamily="49" charset="0"/>
              </a:rPr>
              <a:t>pcd</a:t>
            </a:r>
            <a:r>
              <a:rPr lang="it-IT" sz="2100" dirty="0">
                <a:latin typeface="Titillium Web" panose="00000500000000000000" pitchFamily="2" charset="0"/>
              </a:rPr>
              <a:t>.</a:t>
            </a:r>
          </a:p>
          <a:p>
            <a:pPr marL="76200" indent="0">
              <a:buNone/>
            </a:pPr>
            <a:r>
              <a:rPr lang="it-IT" sz="2100" dirty="0">
                <a:latin typeface="Titillium Web" panose="00000500000000000000" pitchFamily="2" charset="0"/>
              </a:rPr>
              <a:t>Abbiamo scritto un ciclo per iterare su ogni punto e usare la funzione </a:t>
            </a:r>
            <a:r>
              <a:rPr lang="it-IT" sz="2100" dirty="0" err="1">
                <a:latin typeface="Titillium Web" panose="00000500000000000000" pitchFamily="2" charset="0"/>
              </a:rPr>
              <a:t>std</a:t>
            </a:r>
            <a:r>
              <a:rPr lang="it-IT" sz="2100" dirty="0">
                <a:latin typeface="Titillium Web" panose="00000500000000000000" pitchFamily="2" charset="0"/>
              </a:rPr>
              <a:t>::</a:t>
            </a:r>
            <a:r>
              <a:rPr lang="it-IT" sz="2100" dirty="0" err="1">
                <a:latin typeface="Titillium Web" panose="00000500000000000000" pitchFamily="2" charset="0"/>
              </a:rPr>
              <a:t>isfinite</a:t>
            </a:r>
            <a:r>
              <a:rPr lang="it-IT" sz="2100" dirty="0">
                <a:latin typeface="Titillium Web" panose="00000500000000000000" pitchFamily="2" charset="0"/>
              </a:rPr>
              <a:t>(</a:t>
            </a:r>
            <a:r>
              <a:rPr lang="it-IT" sz="2100" dirty="0" err="1">
                <a:latin typeface="Titillium Web" panose="00000500000000000000" pitchFamily="2" charset="0"/>
              </a:rPr>
              <a:t>point.range</a:t>
            </a:r>
            <a:r>
              <a:rPr lang="it-IT" sz="2100" dirty="0">
                <a:latin typeface="Titillium Web" panose="00000500000000000000" pitchFamily="2" charset="0"/>
              </a:rPr>
              <a:t>) come filtro. Solo se il raggio ha colpito una superficie valida, le coordinate X, Y, Z vengono copiate nella nuvola finale.</a:t>
            </a:r>
          </a:p>
        </p:txBody>
      </p:sp>
      <p:sp>
        <p:nvSpPr>
          <p:cNvPr id="4" name="Segnaposto numero diapositiva 3">
            <a:extLst>
              <a:ext uri="{FF2B5EF4-FFF2-40B4-BE49-F238E27FC236}">
                <a16:creationId xmlns:a16="http://schemas.microsoft.com/office/drawing/2014/main" id="{C8741A30-9519-8DDF-87E6-FD3FD9E4F52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22</a:t>
            </a:fld>
            <a:endParaRPr lang="it-IT"/>
          </a:p>
        </p:txBody>
      </p:sp>
      <p:sp>
        <p:nvSpPr>
          <p:cNvPr id="5" name="Titolo 3">
            <a:extLst>
              <a:ext uri="{FF2B5EF4-FFF2-40B4-BE49-F238E27FC236}">
                <a16:creationId xmlns:a16="http://schemas.microsoft.com/office/drawing/2014/main" id="{03057B09-7F34-E14C-7091-60DC564336D5}"/>
              </a:ext>
            </a:extLst>
          </p:cNvPr>
          <p:cNvSpPr txBox="1">
            <a:spLocks/>
          </p:cNvSpPr>
          <p:nvPr/>
        </p:nvSpPr>
        <p:spPr>
          <a:xfrm>
            <a:off x="457200" y="434575"/>
            <a:ext cx="821817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Estrazione Punti – Soluzione Implementata</a:t>
            </a:r>
          </a:p>
        </p:txBody>
      </p:sp>
      <p:sp>
        <p:nvSpPr>
          <p:cNvPr id="6" name="CasellaDiTesto 5">
            <a:extLst>
              <a:ext uri="{FF2B5EF4-FFF2-40B4-BE49-F238E27FC236}">
                <a16:creationId xmlns:a16="http://schemas.microsoft.com/office/drawing/2014/main" id="{B70CFBDB-BEEB-43C0-C297-365CAF7F4F5E}"/>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3281364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5250961D-3549-D3F2-3766-460271A759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23</a:t>
            </a:fld>
            <a:endParaRPr lang="it-IT"/>
          </a:p>
        </p:txBody>
      </p:sp>
      <p:pic>
        <p:nvPicPr>
          <p:cNvPr id="8" name="Immagine 7">
            <a:extLst>
              <a:ext uri="{FF2B5EF4-FFF2-40B4-BE49-F238E27FC236}">
                <a16:creationId xmlns:a16="http://schemas.microsoft.com/office/drawing/2014/main" id="{D6B21658-E069-B563-E358-890F9D2ED511}"/>
              </a:ext>
            </a:extLst>
          </p:cNvPr>
          <p:cNvPicPr>
            <a:picLocks noChangeAspect="1"/>
          </p:cNvPicPr>
          <p:nvPr/>
        </p:nvPicPr>
        <p:blipFill>
          <a:blip r:embed="rId2"/>
          <a:stretch>
            <a:fillRect/>
          </a:stretch>
        </p:blipFill>
        <p:spPr>
          <a:xfrm>
            <a:off x="683942" y="504313"/>
            <a:ext cx="7605132" cy="3871818"/>
          </a:xfrm>
          <a:prstGeom prst="rect">
            <a:avLst/>
          </a:prstGeom>
        </p:spPr>
      </p:pic>
      <p:sp>
        <p:nvSpPr>
          <p:cNvPr id="3" name="CasellaDiTesto 2">
            <a:extLst>
              <a:ext uri="{FF2B5EF4-FFF2-40B4-BE49-F238E27FC236}">
                <a16:creationId xmlns:a16="http://schemas.microsoft.com/office/drawing/2014/main" id="{71E43FF6-7175-392D-7228-81558A8B7693}"/>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62557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001332F0-82C4-AD04-3790-A001958A12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24</a:t>
            </a:fld>
            <a:endParaRPr lang="it-IT"/>
          </a:p>
        </p:txBody>
      </p:sp>
      <p:pic>
        <p:nvPicPr>
          <p:cNvPr id="6" name="Immagine 5">
            <a:extLst>
              <a:ext uri="{FF2B5EF4-FFF2-40B4-BE49-F238E27FC236}">
                <a16:creationId xmlns:a16="http://schemas.microsoft.com/office/drawing/2014/main" id="{CA4F832C-24E2-F0B6-72AE-40C4A430960A}"/>
              </a:ext>
            </a:extLst>
          </p:cNvPr>
          <p:cNvPicPr>
            <a:picLocks noChangeAspect="1"/>
          </p:cNvPicPr>
          <p:nvPr/>
        </p:nvPicPr>
        <p:blipFill>
          <a:blip r:embed="rId2"/>
          <a:stretch>
            <a:fillRect/>
          </a:stretch>
        </p:blipFill>
        <p:spPr>
          <a:xfrm>
            <a:off x="1002143" y="731670"/>
            <a:ext cx="7139713" cy="3825462"/>
          </a:xfrm>
          <a:prstGeom prst="rect">
            <a:avLst/>
          </a:prstGeom>
        </p:spPr>
      </p:pic>
      <p:sp>
        <p:nvSpPr>
          <p:cNvPr id="3" name="CasellaDiTesto 2">
            <a:extLst>
              <a:ext uri="{FF2B5EF4-FFF2-40B4-BE49-F238E27FC236}">
                <a16:creationId xmlns:a16="http://schemas.microsoft.com/office/drawing/2014/main" id="{D870ADE3-B7B4-DCC8-ECC8-96DC68833A1F}"/>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705422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D9FA4-1A7C-E433-8BF6-ABA5B7B279A4}"/>
            </a:ext>
          </a:extLst>
        </p:cNvPr>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9A3F5291-F46D-B63C-DC2F-1FBE6DA4A6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25</a:t>
            </a:fld>
            <a:endParaRPr lang="it-IT"/>
          </a:p>
        </p:txBody>
      </p:sp>
      <p:pic>
        <p:nvPicPr>
          <p:cNvPr id="3" name="Immagine 2">
            <a:extLst>
              <a:ext uri="{FF2B5EF4-FFF2-40B4-BE49-F238E27FC236}">
                <a16:creationId xmlns:a16="http://schemas.microsoft.com/office/drawing/2014/main" id="{B66E2B00-5C25-9829-A485-6FA710BCDF2D}"/>
              </a:ext>
            </a:extLst>
          </p:cNvPr>
          <p:cNvPicPr>
            <a:picLocks noChangeAspect="1"/>
          </p:cNvPicPr>
          <p:nvPr/>
        </p:nvPicPr>
        <p:blipFill>
          <a:blip r:embed="rId2"/>
          <a:stretch>
            <a:fillRect/>
          </a:stretch>
        </p:blipFill>
        <p:spPr>
          <a:xfrm>
            <a:off x="743412" y="798705"/>
            <a:ext cx="7575397" cy="3700909"/>
          </a:xfrm>
          <a:prstGeom prst="rect">
            <a:avLst/>
          </a:prstGeom>
        </p:spPr>
      </p:pic>
      <p:sp>
        <p:nvSpPr>
          <p:cNvPr id="5" name="CasellaDiTesto 4">
            <a:extLst>
              <a:ext uri="{FF2B5EF4-FFF2-40B4-BE49-F238E27FC236}">
                <a16:creationId xmlns:a16="http://schemas.microsoft.com/office/drawing/2014/main" id="{67D8589C-8FEB-45A8-E6FD-3D4A16A2103D}"/>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extLst>
      <p:ext uri="{BB962C8B-B14F-4D97-AF65-F5344CB8AC3E}">
        <p14:creationId xmlns:p14="http://schemas.microsoft.com/office/powerpoint/2010/main" val="2803738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a:extLst>
              <a:ext uri="{FF2B5EF4-FFF2-40B4-BE49-F238E27FC236}">
                <a16:creationId xmlns:a16="http://schemas.microsoft.com/office/drawing/2014/main" id="{B1D48756-95AB-060F-890A-149721C00D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26</a:t>
            </a:fld>
            <a:endParaRPr lang="it-IT"/>
          </a:p>
        </p:txBody>
      </p:sp>
      <p:pic>
        <p:nvPicPr>
          <p:cNvPr id="6" name="Immagine 5" descr="Immagine che contiene oscurità, nero, grotta, notte&#10;&#10;Il contenuto generato dall'IA potrebbe non essere corretto.">
            <a:extLst>
              <a:ext uri="{FF2B5EF4-FFF2-40B4-BE49-F238E27FC236}">
                <a16:creationId xmlns:a16="http://schemas.microsoft.com/office/drawing/2014/main" id="{E11AAA8F-A379-691A-4DA2-671D9A6B8CBE}"/>
              </a:ext>
            </a:extLst>
          </p:cNvPr>
          <p:cNvPicPr>
            <a:picLocks noChangeAspect="1"/>
          </p:cNvPicPr>
          <p:nvPr/>
        </p:nvPicPr>
        <p:blipFill>
          <a:blip r:embed="rId2"/>
          <a:stretch>
            <a:fillRect/>
          </a:stretch>
        </p:blipFill>
        <p:spPr>
          <a:xfrm>
            <a:off x="372422" y="1023481"/>
            <a:ext cx="3238865" cy="1980000"/>
          </a:xfrm>
          <a:prstGeom prst="rect">
            <a:avLst/>
          </a:prstGeom>
        </p:spPr>
      </p:pic>
      <p:pic>
        <p:nvPicPr>
          <p:cNvPr id="8" name="Immagine 7" descr="Immagine che contiene oscurità, grotta, notte&#10;&#10;Il contenuto generato dall'IA potrebbe non essere corretto.">
            <a:extLst>
              <a:ext uri="{FF2B5EF4-FFF2-40B4-BE49-F238E27FC236}">
                <a16:creationId xmlns:a16="http://schemas.microsoft.com/office/drawing/2014/main" id="{24A02261-26CA-A471-EE9A-4E316FBC652A}"/>
              </a:ext>
            </a:extLst>
          </p:cNvPr>
          <p:cNvPicPr>
            <a:picLocks noChangeAspect="1"/>
          </p:cNvPicPr>
          <p:nvPr/>
        </p:nvPicPr>
        <p:blipFill>
          <a:blip r:embed="rId3"/>
          <a:stretch>
            <a:fillRect/>
          </a:stretch>
        </p:blipFill>
        <p:spPr>
          <a:xfrm>
            <a:off x="4895528" y="969589"/>
            <a:ext cx="3285647" cy="1980000"/>
          </a:xfrm>
          <a:prstGeom prst="rect">
            <a:avLst/>
          </a:prstGeom>
        </p:spPr>
      </p:pic>
      <p:sp>
        <p:nvSpPr>
          <p:cNvPr id="3" name="Titolo 3">
            <a:extLst>
              <a:ext uri="{FF2B5EF4-FFF2-40B4-BE49-F238E27FC236}">
                <a16:creationId xmlns:a16="http://schemas.microsoft.com/office/drawing/2014/main" id="{84A0588D-5A7D-9B86-BE12-3331E9559B89}"/>
              </a:ext>
            </a:extLst>
          </p:cNvPr>
          <p:cNvSpPr txBox="1">
            <a:spLocks/>
          </p:cNvSpPr>
          <p:nvPr/>
        </p:nvSpPr>
        <p:spPr>
          <a:xfrm>
            <a:off x="372422" y="112189"/>
            <a:ext cx="7727004"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Risultati Vista Virtuale I e II Dataset</a:t>
            </a:r>
          </a:p>
        </p:txBody>
      </p:sp>
      <p:sp>
        <p:nvSpPr>
          <p:cNvPr id="7" name="CasellaDiTesto 6">
            <a:extLst>
              <a:ext uri="{FF2B5EF4-FFF2-40B4-BE49-F238E27FC236}">
                <a16:creationId xmlns:a16="http://schemas.microsoft.com/office/drawing/2014/main" id="{CD889FF0-B94D-9DDB-E2AC-A3A71955797B}"/>
              </a:ext>
            </a:extLst>
          </p:cNvPr>
          <p:cNvSpPr txBox="1"/>
          <p:nvPr/>
        </p:nvSpPr>
        <p:spPr>
          <a:xfrm>
            <a:off x="372422" y="3003481"/>
            <a:ext cx="3447306" cy="523220"/>
          </a:xfrm>
          <a:prstGeom prst="rect">
            <a:avLst/>
          </a:prstGeom>
          <a:noFill/>
        </p:spPr>
        <p:txBody>
          <a:bodyPr wrap="square" rtlCol="0">
            <a:spAutoFit/>
          </a:bodyPr>
          <a:lstStyle/>
          <a:p>
            <a:r>
              <a:rPr lang="it-IT" b="1" dirty="0">
                <a:solidFill>
                  <a:schemeClr val="bg1"/>
                </a:solidFill>
                <a:latin typeface="Titillium Web" panose="00000500000000000000" pitchFamily="2" charset="0"/>
              </a:rPr>
              <a:t>Analisi:</a:t>
            </a:r>
            <a:endParaRPr lang="it-IT" dirty="0">
              <a:solidFill>
                <a:schemeClr val="bg1"/>
              </a:solidFill>
              <a:latin typeface="Titillium Web" panose="00000500000000000000" pitchFamily="2" charset="0"/>
            </a:endParaRPr>
          </a:p>
          <a:p>
            <a:r>
              <a:rPr lang="it-IT" dirty="0">
                <a:solidFill>
                  <a:schemeClr val="bg1"/>
                </a:solidFill>
                <a:latin typeface="Titillium Web" panose="00000500000000000000" pitchFamily="2" charset="0"/>
              </a:rPr>
              <a:t>Punti residui: ~13.495 (riduzione del ~92%).</a:t>
            </a:r>
          </a:p>
        </p:txBody>
      </p:sp>
      <p:sp>
        <p:nvSpPr>
          <p:cNvPr id="9" name="CasellaDiTesto 8">
            <a:extLst>
              <a:ext uri="{FF2B5EF4-FFF2-40B4-BE49-F238E27FC236}">
                <a16:creationId xmlns:a16="http://schemas.microsoft.com/office/drawing/2014/main" id="{8801C423-152D-6DD8-3AB8-56900CDA529E}"/>
              </a:ext>
            </a:extLst>
          </p:cNvPr>
          <p:cNvSpPr txBox="1"/>
          <p:nvPr/>
        </p:nvSpPr>
        <p:spPr>
          <a:xfrm>
            <a:off x="4895528" y="2949589"/>
            <a:ext cx="3551108" cy="523220"/>
          </a:xfrm>
          <a:prstGeom prst="rect">
            <a:avLst/>
          </a:prstGeom>
          <a:noFill/>
        </p:spPr>
        <p:txBody>
          <a:bodyPr wrap="square" rtlCol="0">
            <a:spAutoFit/>
          </a:bodyPr>
          <a:lstStyle/>
          <a:p>
            <a:r>
              <a:rPr lang="it-IT" b="1" dirty="0">
                <a:solidFill>
                  <a:schemeClr val="bg1"/>
                </a:solidFill>
                <a:latin typeface="Titillium Web" panose="00000500000000000000" pitchFamily="2" charset="0"/>
              </a:rPr>
              <a:t>Analisi:</a:t>
            </a:r>
            <a:endParaRPr lang="it-IT" dirty="0">
              <a:solidFill>
                <a:schemeClr val="bg1"/>
              </a:solidFill>
              <a:latin typeface="Titillium Web" panose="00000500000000000000" pitchFamily="2" charset="0"/>
            </a:endParaRPr>
          </a:p>
          <a:p>
            <a:r>
              <a:rPr lang="it-IT" dirty="0">
                <a:solidFill>
                  <a:schemeClr val="bg1"/>
                </a:solidFill>
                <a:latin typeface="Titillium Web" panose="00000500000000000000" pitchFamily="2" charset="0"/>
              </a:rPr>
              <a:t>Punti residui: </a:t>
            </a:r>
            <a:r>
              <a:rPr lang="it-IT" altLang="it-IT" dirty="0">
                <a:solidFill>
                  <a:schemeClr val="bg1"/>
                </a:solidFill>
                <a:latin typeface="Titillium Web" panose="00000500000000000000" pitchFamily="2" charset="0"/>
              </a:rPr>
              <a:t>~11.280 (riduzione del ~94,8%).</a:t>
            </a:r>
            <a:endParaRPr lang="it-IT" dirty="0">
              <a:solidFill>
                <a:schemeClr val="bg1"/>
              </a:solidFill>
              <a:latin typeface="Titillium Web" panose="00000500000000000000" pitchFamily="2" charset="0"/>
            </a:endParaRPr>
          </a:p>
        </p:txBody>
      </p:sp>
      <p:sp>
        <p:nvSpPr>
          <p:cNvPr id="13" name="CasellaDiTesto 12">
            <a:extLst>
              <a:ext uri="{FF2B5EF4-FFF2-40B4-BE49-F238E27FC236}">
                <a16:creationId xmlns:a16="http://schemas.microsoft.com/office/drawing/2014/main" id="{03BC9EA2-4554-EFCD-F388-F17692851CC9}"/>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
        <p:nvSpPr>
          <p:cNvPr id="14" name="CasellaDiTesto 13">
            <a:extLst>
              <a:ext uri="{FF2B5EF4-FFF2-40B4-BE49-F238E27FC236}">
                <a16:creationId xmlns:a16="http://schemas.microsoft.com/office/drawing/2014/main" id="{14816544-DF31-9A83-C00E-3420DC6499F7}"/>
              </a:ext>
            </a:extLst>
          </p:cNvPr>
          <p:cNvSpPr txBox="1"/>
          <p:nvPr/>
        </p:nvSpPr>
        <p:spPr>
          <a:xfrm>
            <a:off x="372422" y="3619957"/>
            <a:ext cx="8741461" cy="1261884"/>
          </a:xfrm>
          <a:prstGeom prst="rect">
            <a:avLst/>
          </a:prstGeom>
          <a:noFill/>
        </p:spPr>
        <p:txBody>
          <a:bodyPr wrap="square" rtlCol="0">
            <a:spAutoFit/>
          </a:bodyPr>
          <a:lstStyle/>
          <a:p>
            <a:r>
              <a:rPr lang="it-IT" altLang="it-IT" sz="1900" i="1" dirty="0">
                <a:solidFill>
                  <a:schemeClr val="bg1"/>
                </a:solidFill>
                <a:latin typeface="Titillium Web" panose="00000500000000000000" pitchFamily="2" charset="0"/>
              </a:rPr>
              <a:t>Evidenza Ray Tracing</a:t>
            </a:r>
            <a:r>
              <a:rPr lang="it-IT" altLang="it-IT" sz="1900" dirty="0">
                <a:solidFill>
                  <a:schemeClr val="bg1"/>
                </a:solidFill>
                <a:latin typeface="Titillium Web" panose="00000500000000000000" pitchFamily="2" charset="0"/>
              </a:rPr>
              <a:t>: Il drastico calo dei punti conferma la corretta simulazione delle occlusioni: sono rimasti solo i punti delle superfici direttamente visibili dal sensore, mentre il 92% della mappa associato al primo dataset e il 95% della mappa associato al secondo dataset (nascosta dietro i muri) è stato eliminato.</a:t>
            </a:r>
          </a:p>
        </p:txBody>
      </p:sp>
    </p:spTree>
    <p:extLst>
      <p:ext uri="{BB962C8B-B14F-4D97-AF65-F5344CB8AC3E}">
        <p14:creationId xmlns:p14="http://schemas.microsoft.com/office/powerpoint/2010/main" val="2443425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7"/>
          <p:cNvSpPr txBox="1">
            <a:spLocks noGrp="1"/>
          </p:cNvSpPr>
          <p:nvPr>
            <p:ph type="subTitle" idx="4294967295"/>
          </p:nvPr>
        </p:nvSpPr>
        <p:spPr>
          <a:xfrm>
            <a:off x="3362315" y="1320780"/>
            <a:ext cx="5453736" cy="3033825"/>
          </a:xfrm>
          <a:prstGeom prst="rect">
            <a:avLst/>
          </a:prstGeom>
        </p:spPr>
        <p:txBody>
          <a:bodyPr spcFirstLastPara="1" wrap="square" lIns="0" tIns="0" rIns="0" bIns="0" anchor="t" anchorCtr="0">
            <a:noAutofit/>
          </a:bodyPr>
          <a:lstStyle/>
          <a:p>
            <a:pPr>
              <a:buFont typeface="Wingdings" panose="05000000000000000000" pitchFamily="2" charset="2"/>
              <a:buChar char="v"/>
            </a:pPr>
            <a:r>
              <a:rPr lang="it-IT" sz="2100" dirty="0">
                <a:latin typeface="Titillium Web" panose="00000500000000000000" pitchFamily="2" charset="0"/>
              </a:rPr>
              <a:t>Integrazione riuscita tra Python (Mapping) e C++ (Simulazione).</a:t>
            </a:r>
          </a:p>
          <a:p>
            <a:pPr>
              <a:buFont typeface="Wingdings" panose="05000000000000000000" pitchFamily="2" charset="2"/>
              <a:buChar char="v"/>
            </a:pPr>
            <a:endParaRPr lang="it-IT" sz="2100" dirty="0">
              <a:latin typeface="Titillium Web" panose="00000500000000000000" pitchFamily="2" charset="0"/>
            </a:endParaRPr>
          </a:p>
          <a:p>
            <a:pPr>
              <a:buFont typeface="Wingdings" panose="05000000000000000000" pitchFamily="2" charset="2"/>
              <a:buChar char="v"/>
            </a:pPr>
            <a:r>
              <a:rPr lang="it-IT" sz="2100" dirty="0">
                <a:latin typeface="Titillium Web" panose="00000500000000000000" pitchFamily="2" charset="0"/>
              </a:rPr>
              <a:t>Superamento limitazioni librerie tramite introspezione e tool esterni (Open3D).</a:t>
            </a:r>
          </a:p>
          <a:p>
            <a:pPr>
              <a:buFont typeface="Wingdings" panose="05000000000000000000" pitchFamily="2" charset="2"/>
              <a:buChar char="v"/>
            </a:pPr>
            <a:endParaRPr lang="it-IT" sz="2100" dirty="0">
              <a:latin typeface="Titillium Web" panose="00000500000000000000" pitchFamily="2" charset="0"/>
            </a:endParaRPr>
          </a:p>
          <a:p>
            <a:pPr>
              <a:buFont typeface="Wingdings" panose="05000000000000000000" pitchFamily="2" charset="2"/>
              <a:buChar char="v"/>
            </a:pPr>
            <a:r>
              <a:rPr lang="it-IT" sz="2100" dirty="0">
                <a:latin typeface="Titillium Web" panose="00000500000000000000" pitchFamily="2" charset="0"/>
              </a:rPr>
              <a:t>Pipeline completa funzionante sui dataset </a:t>
            </a:r>
            <a:r>
              <a:rPr lang="it-IT" sz="2100" dirty="0" err="1">
                <a:latin typeface="Titillium Web" panose="00000500000000000000" pitchFamily="2" charset="0"/>
              </a:rPr>
              <a:t>Unipr</a:t>
            </a:r>
            <a:r>
              <a:rPr lang="it-IT" sz="2100" dirty="0">
                <a:latin typeface="Titillium Web" panose="00000500000000000000" pitchFamily="2" charset="0"/>
              </a:rPr>
              <a:t>.</a:t>
            </a:r>
          </a:p>
        </p:txBody>
      </p:sp>
      <p:grpSp>
        <p:nvGrpSpPr>
          <p:cNvPr id="96" name="Google Shape;96;p17"/>
          <p:cNvGrpSpPr/>
          <p:nvPr/>
        </p:nvGrpSpPr>
        <p:grpSpPr>
          <a:xfrm>
            <a:off x="1352059" y="1266863"/>
            <a:ext cx="1675491" cy="1675513"/>
            <a:chOff x="6643075" y="3664250"/>
            <a:chExt cx="407950" cy="407975"/>
          </a:xfrm>
        </p:grpSpPr>
        <p:sp>
          <p:nvSpPr>
            <p:cNvPr id="97" name="Google Shape;97;p17"/>
            <p:cNvSpPr/>
            <p:nvPr/>
          </p:nvSpPr>
          <p:spPr>
            <a:xfrm>
              <a:off x="6794075" y="3815250"/>
              <a:ext cx="211300" cy="211300"/>
            </a:xfrm>
            <a:custGeom>
              <a:avLst/>
              <a:gdLst/>
              <a:ahLst/>
              <a:cxnLst/>
              <a:rect l="l" t="t" r="r" b="b"/>
              <a:pathLst>
                <a:path w="8452" h="8452" fill="none" extrusionOk="0">
                  <a:moveTo>
                    <a:pt x="0" y="8135"/>
                  </a:moveTo>
                  <a:lnTo>
                    <a:pt x="0" y="8135"/>
                  </a:lnTo>
                  <a:lnTo>
                    <a:pt x="438" y="8257"/>
                  </a:lnTo>
                  <a:lnTo>
                    <a:pt x="852" y="8354"/>
                  </a:lnTo>
                  <a:lnTo>
                    <a:pt x="1291" y="8403"/>
                  </a:lnTo>
                  <a:lnTo>
                    <a:pt x="1729" y="8452"/>
                  </a:lnTo>
                  <a:lnTo>
                    <a:pt x="2168" y="8452"/>
                  </a:lnTo>
                  <a:lnTo>
                    <a:pt x="2606" y="8427"/>
                  </a:lnTo>
                  <a:lnTo>
                    <a:pt x="3020" y="8378"/>
                  </a:lnTo>
                  <a:lnTo>
                    <a:pt x="3458" y="8281"/>
                  </a:lnTo>
                  <a:lnTo>
                    <a:pt x="3872" y="8184"/>
                  </a:lnTo>
                  <a:lnTo>
                    <a:pt x="4311" y="8037"/>
                  </a:lnTo>
                  <a:lnTo>
                    <a:pt x="4701" y="7867"/>
                  </a:lnTo>
                  <a:lnTo>
                    <a:pt x="5115" y="7672"/>
                  </a:lnTo>
                  <a:lnTo>
                    <a:pt x="5504" y="7429"/>
                  </a:lnTo>
                  <a:lnTo>
                    <a:pt x="5870" y="7185"/>
                  </a:lnTo>
                  <a:lnTo>
                    <a:pt x="6235" y="6893"/>
                  </a:lnTo>
                  <a:lnTo>
                    <a:pt x="6576" y="6576"/>
                  </a:lnTo>
                  <a:lnTo>
                    <a:pt x="6576" y="6576"/>
                  </a:lnTo>
                  <a:lnTo>
                    <a:pt x="6892" y="6235"/>
                  </a:lnTo>
                  <a:lnTo>
                    <a:pt x="7185" y="5870"/>
                  </a:lnTo>
                  <a:lnTo>
                    <a:pt x="7428" y="5505"/>
                  </a:lnTo>
                  <a:lnTo>
                    <a:pt x="7672" y="5115"/>
                  </a:lnTo>
                  <a:lnTo>
                    <a:pt x="7867" y="4701"/>
                  </a:lnTo>
                  <a:lnTo>
                    <a:pt x="8037" y="4311"/>
                  </a:lnTo>
                  <a:lnTo>
                    <a:pt x="8183" y="3873"/>
                  </a:lnTo>
                  <a:lnTo>
                    <a:pt x="8281" y="3459"/>
                  </a:lnTo>
                  <a:lnTo>
                    <a:pt x="8378" y="3020"/>
                  </a:lnTo>
                  <a:lnTo>
                    <a:pt x="8427" y="2606"/>
                  </a:lnTo>
                  <a:lnTo>
                    <a:pt x="8451" y="2168"/>
                  </a:lnTo>
                  <a:lnTo>
                    <a:pt x="8451" y="1730"/>
                  </a:lnTo>
                  <a:lnTo>
                    <a:pt x="8402" y="1291"/>
                  </a:lnTo>
                  <a:lnTo>
                    <a:pt x="8354" y="853"/>
                  </a:lnTo>
                  <a:lnTo>
                    <a:pt x="8256" y="439"/>
                  </a:lnTo>
                  <a:lnTo>
                    <a:pt x="8135" y="0"/>
                  </a:lnTo>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7"/>
            <p:cNvSpPr/>
            <p:nvPr/>
          </p:nvSpPr>
          <p:spPr>
            <a:xfrm>
              <a:off x="6643075" y="3664250"/>
              <a:ext cx="407950" cy="407975"/>
            </a:xfrm>
            <a:custGeom>
              <a:avLst/>
              <a:gdLst/>
              <a:ahLst/>
              <a:cxnLst/>
              <a:rect l="l" t="t" r="r" b="b"/>
              <a:pathLst>
                <a:path w="16318" h="16319" fill="none" extrusionOk="0">
                  <a:moveTo>
                    <a:pt x="16074" y="244"/>
                  </a:moveTo>
                  <a:lnTo>
                    <a:pt x="16074" y="244"/>
                  </a:lnTo>
                  <a:lnTo>
                    <a:pt x="15928" y="122"/>
                  </a:lnTo>
                  <a:lnTo>
                    <a:pt x="15758" y="49"/>
                  </a:lnTo>
                  <a:lnTo>
                    <a:pt x="15538" y="0"/>
                  </a:lnTo>
                  <a:lnTo>
                    <a:pt x="15319" y="0"/>
                  </a:lnTo>
                  <a:lnTo>
                    <a:pt x="15051" y="25"/>
                  </a:lnTo>
                  <a:lnTo>
                    <a:pt x="14759" y="73"/>
                  </a:lnTo>
                  <a:lnTo>
                    <a:pt x="14442" y="171"/>
                  </a:lnTo>
                  <a:lnTo>
                    <a:pt x="14102" y="293"/>
                  </a:lnTo>
                  <a:lnTo>
                    <a:pt x="13736" y="439"/>
                  </a:lnTo>
                  <a:lnTo>
                    <a:pt x="13347" y="609"/>
                  </a:lnTo>
                  <a:lnTo>
                    <a:pt x="12957" y="828"/>
                  </a:lnTo>
                  <a:lnTo>
                    <a:pt x="12543" y="1048"/>
                  </a:lnTo>
                  <a:lnTo>
                    <a:pt x="11666" y="1608"/>
                  </a:lnTo>
                  <a:lnTo>
                    <a:pt x="10716" y="2265"/>
                  </a:lnTo>
                  <a:lnTo>
                    <a:pt x="10716" y="2265"/>
                  </a:lnTo>
                  <a:lnTo>
                    <a:pt x="10278" y="2095"/>
                  </a:lnTo>
                  <a:lnTo>
                    <a:pt x="9815" y="1949"/>
                  </a:lnTo>
                  <a:lnTo>
                    <a:pt x="9352" y="1851"/>
                  </a:lnTo>
                  <a:lnTo>
                    <a:pt x="8890" y="1778"/>
                  </a:lnTo>
                  <a:lnTo>
                    <a:pt x="8427" y="1730"/>
                  </a:lnTo>
                  <a:lnTo>
                    <a:pt x="7940" y="1730"/>
                  </a:lnTo>
                  <a:lnTo>
                    <a:pt x="7477" y="1778"/>
                  </a:lnTo>
                  <a:lnTo>
                    <a:pt x="7014" y="1827"/>
                  </a:lnTo>
                  <a:lnTo>
                    <a:pt x="6551" y="1924"/>
                  </a:lnTo>
                  <a:lnTo>
                    <a:pt x="6089" y="2070"/>
                  </a:lnTo>
                  <a:lnTo>
                    <a:pt x="5650" y="2241"/>
                  </a:lnTo>
                  <a:lnTo>
                    <a:pt x="5212" y="2436"/>
                  </a:lnTo>
                  <a:lnTo>
                    <a:pt x="4774" y="2679"/>
                  </a:lnTo>
                  <a:lnTo>
                    <a:pt x="4384" y="2972"/>
                  </a:lnTo>
                  <a:lnTo>
                    <a:pt x="3994" y="3264"/>
                  </a:lnTo>
                  <a:lnTo>
                    <a:pt x="3605" y="3605"/>
                  </a:lnTo>
                  <a:lnTo>
                    <a:pt x="3605" y="3605"/>
                  </a:lnTo>
                  <a:lnTo>
                    <a:pt x="3264" y="3995"/>
                  </a:lnTo>
                  <a:lnTo>
                    <a:pt x="2971" y="4384"/>
                  </a:lnTo>
                  <a:lnTo>
                    <a:pt x="2679" y="4774"/>
                  </a:lnTo>
                  <a:lnTo>
                    <a:pt x="2436" y="5212"/>
                  </a:lnTo>
                  <a:lnTo>
                    <a:pt x="2241" y="5651"/>
                  </a:lnTo>
                  <a:lnTo>
                    <a:pt x="2070" y="6089"/>
                  </a:lnTo>
                  <a:lnTo>
                    <a:pt x="1924" y="6552"/>
                  </a:lnTo>
                  <a:lnTo>
                    <a:pt x="1827" y="7015"/>
                  </a:lnTo>
                  <a:lnTo>
                    <a:pt x="1778" y="7477"/>
                  </a:lnTo>
                  <a:lnTo>
                    <a:pt x="1729" y="7940"/>
                  </a:lnTo>
                  <a:lnTo>
                    <a:pt x="1729" y="8427"/>
                  </a:lnTo>
                  <a:lnTo>
                    <a:pt x="1778" y="8890"/>
                  </a:lnTo>
                  <a:lnTo>
                    <a:pt x="1851" y="9353"/>
                  </a:lnTo>
                  <a:lnTo>
                    <a:pt x="1948" y="9815"/>
                  </a:lnTo>
                  <a:lnTo>
                    <a:pt x="2095" y="10278"/>
                  </a:lnTo>
                  <a:lnTo>
                    <a:pt x="2265" y="10716"/>
                  </a:lnTo>
                  <a:lnTo>
                    <a:pt x="2265" y="10716"/>
                  </a:lnTo>
                  <a:lnTo>
                    <a:pt x="1607" y="11666"/>
                  </a:lnTo>
                  <a:lnTo>
                    <a:pt x="1047" y="12543"/>
                  </a:lnTo>
                  <a:lnTo>
                    <a:pt x="828" y="12957"/>
                  </a:lnTo>
                  <a:lnTo>
                    <a:pt x="609" y="13347"/>
                  </a:lnTo>
                  <a:lnTo>
                    <a:pt x="438" y="13737"/>
                  </a:lnTo>
                  <a:lnTo>
                    <a:pt x="292" y="14102"/>
                  </a:lnTo>
                  <a:lnTo>
                    <a:pt x="170" y="14443"/>
                  </a:lnTo>
                  <a:lnTo>
                    <a:pt x="73" y="14759"/>
                  </a:lnTo>
                  <a:lnTo>
                    <a:pt x="24" y="15052"/>
                  </a:lnTo>
                  <a:lnTo>
                    <a:pt x="0" y="15320"/>
                  </a:lnTo>
                  <a:lnTo>
                    <a:pt x="0" y="15539"/>
                  </a:lnTo>
                  <a:lnTo>
                    <a:pt x="49" y="15758"/>
                  </a:lnTo>
                  <a:lnTo>
                    <a:pt x="122" y="15928"/>
                  </a:lnTo>
                  <a:lnTo>
                    <a:pt x="244" y="16075"/>
                  </a:lnTo>
                  <a:lnTo>
                    <a:pt x="244" y="16075"/>
                  </a:lnTo>
                  <a:lnTo>
                    <a:pt x="341" y="16172"/>
                  </a:lnTo>
                  <a:lnTo>
                    <a:pt x="487" y="16245"/>
                  </a:lnTo>
                  <a:lnTo>
                    <a:pt x="633" y="16294"/>
                  </a:lnTo>
                  <a:lnTo>
                    <a:pt x="804" y="16318"/>
                  </a:lnTo>
                  <a:lnTo>
                    <a:pt x="974" y="16318"/>
                  </a:lnTo>
                  <a:lnTo>
                    <a:pt x="1169" y="16318"/>
                  </a:lnTo>
                  <a:lnTo>
                    <a:pt x="1388" y="16269"/>
                  </a:lnTo>
                  <a:lnTo>
                    <a:pt x="1632" y="16221"/>
                  </a:lnTo>
                  <a:lnTo>
                    <a:pt x="2143" y="16075"/>
                  </a:lnTo>
                  <a:lnTo>
                    <a:pt x="2703" y="15831"/>
                  </a:lnTo>
                  <a:lnTo>
                    <a:pt x="3312" y="15539"/>
                  </a:lnTo>
                  <a:lnTo>
                    <a:pt x="3946" y="15149"/>
                  </a:lnTo>
                  <a:lnTo>
                    <a:pt x="4652" y="14711"/>
                  </a:lnTo>
                  <a:lnTo>
                    <a:pt x="5358" y="14224"/>
                  </a:lnTo>
                  <a:lnTo>
                    <a:pt x="6113" y="13663"/>
                  </a:lnTo>
                  <a:lnTo>
                    <a:pt x="6892" y="13055"/>
                  </a:lnTo>
                  <a:lnTo>
                    <a:pt x="7696" y="12397"/>
                  </a:lnTo>
                  <a:lnTo>
                    <a:pt x="8500" y="11691"/>
                  </a:lnTo>
                  <a:lnTo>
                    <a:pt x="9304" y="10936"/>
                  </a:lnTo>
                  <a:lnTo>
                    <a:pt x="10132" y="10132"/>
                  </a:lnTo>
                  <a:lnTo>
                    <a:pt x="10132" y="10132"/>
                  </a:lnTo>
                  <a:lnTo>
                    <a:pt x="10935" y="9304"/>
                  </a:lnTo>
                  <a:lnTo>
                    <a:pt x="11690" y="8500"/>
                  </a:lnTo>
                  <a:lnTo>
                    <a:pt x="12397" y="7696"/>
                  </a:lnTo>
                  <a:lnTo>
                    <a:pt x="13054" y="6893"/>
                  </a:lnTo>
                  <a:lnTo>
                    <a:pt x="13663" y="6113"/>
                  </a:lnTo>
                  <a:lnTo>
                    <a:pt x="14223" y="5358"/>
                  </a:lnTo>
                  <a:lnTo>
                    <a:pt x="14710" y="4652"/>
                  </a:lnTo>
                  <a:lnTo>
                    <a:pt x="15149" y="3946"/>
                  </a:lnTo>
                  <a:lnTo>
                    <a:pt x="15538" y="3313"/>
                  </a:lnTo>
                  <a:lnTo>
                    <a:pt x="15831" y="2704"/>
                  </a:lnTo>
                  <a:lnTo>
                    <a:pt x="16074" y="2144"/>
                  </a:lnTo>
                  <a:lnTo>
                    <a:pt x="16220" y="1632"/>
                  </a:lnTo>
                  <a:lnTo>
                    <a:pt x="16269" y="1389"/>
                  </a:lnTo>
                  <a:lnTo>
                    <a:pt x="16318" y="1169"/>
                  </a:lnTo>
                  <a:lnTo>
                    <a:pt x="16318" y="975"/>
                  </a:lnTo>
                  <a:lnTo>
                    <a:pt x="16318" y="804"/>
                  </a:lnTo>
                  <a:lnTo>
                    <a:pt x="16293" y="634"/>
                  </a:lnTo>
                  <a:lnTo>
                    <a:pt x="16245" y="487"/>
                  </a:lnTo>
                  <a:lnTo>
                    <a:pt x="16172" y="341"/>
                  </a:lnTo>
                  <a:lnTo>
                    <a:pt x="16074" y="244"/>
                  </a:lnTo>
                  <a:lnTo>
                    <a:pt x="16074" y="244"/>
                  </a:lnTo>
                  <a:close/>
                  <a:moveTo>
                    <a:pt x="1827" y="13810"/>
                  </a:moveTo>
                  <a:lnTo>
                    <a:pt x="1827" y="13810"/>
                  </a:lnTo>
                  <a:lnTo>
                    <a:pt x="1754" y="13737"/>
                  </a:lnTo>
                  <a:lnTo>
                    <a:pt x="1729" y="13639"/>
                  </a:lnTo>
                  <a:lnTo>
                    <a:pt x="1681" y="13542"/>
                  </a:lnTo>
                  <a:lnTo>
                    <a:pt x="1681" y="13444"/>
                  </a:lnTo>
                  <a:lnTo>
                    <a:pt x="1681" y="13176"/>
                  </a:lnTo>
                  <a:lnTo>
                    <a:pt x="1754" y="12884"/>
                  </a:lnTo>
                  <a:lnTo>
                    <a:pt x="1875" y="12519"/>
                  </a:lnTo>
                  <a:lnTo>
                    <a:pt x="2046" y="12153"/>
                  </a:lnTo>
                  <a:lnTo>
                    <a:pt x="2265" y="11715"/>
                  </a:lnTo>
                  <a:lnTo>
                    <a:pt x="2533" y="11277"/>
                  </a:lnTo>
                  <a:lnTo>
                    <a:pt x="2533" y="11277"/>
                  </a:lnTo>
                  <a:lnTo>
                    <a:pt x="2752" y="11642"/>
                  </a:lnTo>
                  <a:lnTo>
                    <a:pt x="3020" y="12007"/>
                  </a:lnTo>
                  <a:lnTo>
                    <a:pt x="3288" y="12373"/>
                  </a:lnTo>
                  <a:lnTo>
                    <a:pt x="3605" y="12714"/>
                  </a:lnTo>
                  <a:lnTo>
                    <a:pt x="3605" y="12714"/>
                  </a:lnTo>
                  <a:lnTo>
                    <a:pt x="3897" y="12957"/>
                  </a:lnTo>
                  <a:lnTo>
                    <a:pt x="4165" y="13201"/>
                  </a:lnTo>
                  <a:lnTo>
                    <a:pt x="4165" y="13201"/>
                  </a:lnTo>
                  <a:lnTo>
                    <a:pt x="3751" y="13444"/>
                  </a:lnTo>
                  <a:lnTo>
                    <a:pt x="3361" y="13639"/>
                  </a:lnTo>
                  <a:lnTo>
                    <a:pt x="3020" y="13785"/>
                  </a:lnTo>
                  <a:lnTo>
                    <a:pt x="2679" y="13883"/>
                  </a:lnTo>
                  <a:lnTo>
                    <a:pt x="2411" y="13956"/>
                  </a:lnTo>
                  <a:lnTo>
                    <a:pt x="2168" y="13956"/>
                  </a:lnTo>
                  <a:lnTo>
                    <a:pt x="2070" y="13931"/>
                  </a:lnTo>
                  <a:lnTo>
                    <a:pt x="1973" y="13907"/>
                  </a:lnTo>
                  <a:lnTo>
                    <a:pt x="1900" y="13858"/>
                  </a:lnTo>
                  <a:lnTo>
                    <a:pt x="1827" y="13810"/>
                  </a:lnTo>
                  <a:lnTo>
                    <a:pt x="1827" y="13810"/>
                  </a:lnTo>
                  <a:close/>
                  <a:moveTo>
                    <a:pt x="8159" y="4482"/>
                  </a:moveTo>
                  <a:lnTo>
                    <a:pt x="8159" y="4482"/>
                  </a:lnTo>
                  <a:lnTo>
                    <a:pt x="8037" y="4482"/>
                  </a:lnTo>
                  <a:lnTo>
                    <a:pt x="7940" y="4433"/>
                  </a:lnTo>
                  <a:lnTo>
                    <a:pt x="7842" y="4384"/>
                  </a:lnTo>
                  <a:lnTo>
                    <a:pt x="7745" y="4311"/>
                  </a:lnTo>
                  <a:lnTo>
                    <a:pt x="7672" y="4238"/>
                  </a:lnTo>
                  <a:lnTo>
                    <a:pt x="7623" y="4141"/>
                  </a:lnTo>
                  <a:lnTo>
                    <a:pt x="7574" y="4019"/>
                  </a:lnTo>
                  <a:lnTo>
                    <a:pt x="7574" y="3897"/>
                  </a:lnTo>
                  <a:lnTo>
                    <a:pt x="7574" y="3897"/>
                  </a:lnTo>
                  <a:lnTo>
                    <a:pt x="7574" y="3775"/>
                  </a:lnTo>
                  <a:lnTo>
                    <a:pt x="7623" y="3678"/>
                  </a:lnTo>
                  <a:lnTo>
                    <a:pt x="7672" y="3580"/>
                  </a:lnTo>
                  <a:lnTo>
                    <a:pt x="7745" y="3483"/>
                  </a:lnTo>
                  <a:lnTo>
                    <a:pt x="7842" y="3410"/>
                  </a:lnTo>
                  <a:lnTo>
                    <a:pt x="7940" y="3361"/>
                  </a:lnTo>
                  <a:lnTo>
                    <a:pt x="8037" y="3337"/>
                  </a:lnTo>
                  <a:lnTo>
                    <a:pt x="8159" y="3313"/>
                  </a:lnTo>
                  <a:lnTo>
                    <a:pt x="8159" y="3313"/>
                  </a:lnTo>
                  <a:lnTo>
                    <a:pt x="8281" y="3337"/>
                  </a:lnTo>
                  <a:lnTo>
                    <a:pt x="8378" y="3361"/>
                  </a:lnTo>
                  <a:lnTo>
                    <a:pt x="8476" y="3410"/>
                  </a:lnTo>
                  <a:lnTo>
                    <a:pt x="8573" y="3483"/>
                  </a:lnTo>
                  <a:lnTo>
                    <a:pt x="8646" y="3580"/>
                  </a:lnTo>
                  <a:lnTo>
                    <a:pt x="8695" y="3678"/>
                  </a:lnTo>
                  <a:lnTo>
                    <a:pt x="8743" y="3775"/>
                  </a:lnTo>
                  <a:lnTo>
                    <a:pt x="8743" y="3897"/>
                  </a:lnTo>
                  <a:lnTo>
                    <a:pt x="8743" y="3897"/>
                  </a:lnTo>
                  <a:lnTo>
                    <a:pt x="8743" y="4019"/>
                  </a:lnTo>
                  <a:lnTo>
                    <a:pt x="8695" y="4141"/>
                  </a:lnTo>
                  <a:lnTo>
                    <a:pt x="8646" y="4238"/>
                  </a:lnTo>
                  <a:lnTo>
                    <a:pt x="8573" y="4311"/>
                  </a:lnTo>
                  <a:lnTo>
                    <a:pt x="8476" y="4384"/>
                  </a:lnTo>
                  <a:lnTo>
                    <a:pt x="8378" y="4433"/>
                  </a:lnTo>
                  <a:lnTo>
                    <a:pt x="8281" y="4482"/>
                  </a:lnTo>
                  <a:lnTo>
                    <a:pt x="8159" y="4482"/>
                  </a:lnTo>
                  <a:lnTo>
                    <a:pt x="8159" y="4482"/>
                  </a:lnTo>
                  <a:close/>
                  <a:moveTo>
                    <a:pt x="9133" y="5943"/>
                  </a:moveTo>
                  <a:lnTo>
                    <a:pt x="9133" y="5943"/>
                  </a:lnTo>
                  <a:lnTo>
                    <a:pt x="9036" y="5943"/>
                  </a:lnTo>
                  <a:lnTo>
                    <a:pt x="8963" y="5919"/>
                  </a:lnTo>
                  <a:lnTo>
                    <a:pt x="8841" y="5846"/>
                  </a:lnTo>
                  <a:lnTo>
                    <a:pt x="8768" y="5724"/>
                  </a:lnTo>
                  <a:lnTo>
                    <a:pt x="8743" y="5651"/>
                  </a:lnTo>
                  <a:lnTo>
                    <a:pt x="8743" y="5553"/>
                  </a:lnTo>
                  <a:lnTo>
                    <a:pt x="8743" y="5553"/>
                  </a:lnTo>
                  <a:lnTo>
                    <a:pt x="8743" y="5480"/>
                  </a:lnTo>
                  <a:lnTo>
                    <a:pt x="8768" y="5407"/>
                  </a:lnTo>
                  <a:lnTo>
                    <a:pt x="8841" y="5285"/>
                  </a:lnTo>
                  <a:lnTo>
                    <a:pt x="8963" y="5212"/>
                  </a:lnTo>
                  <a:lnTo>
                    <a:pt x="9036" y="5188"/>
                  </a:lnTo>
                  <a:lnTo>
                    <a:pt x="9133" y="5164"/>
                  </a:lnTo>
                  <a:lnTo>
                    <a:pt x="9133" y="5164"/>
                  </a:lnTo>
                  <a:lnTo>
                    <a:pt x="9206" y="5188"/>
                  </a:lnTo>
                  <a:lnTo>
                    <a:pt x="9279" y="5212"/>
                  </a:lnTo>
                  <a:lnTo>
                    <a:pt x="9401" y="5285"/>
                  </a:lnTo>
                  <a:lnTo>
                    <a:pt x="9474" y="5407"/>
                  </a:lnTo>
                  <a:lnTo>
                    <a:pt x="9498" y="5480"/>
                  </a:lnTo>
                  <a:lnTo>
                    <a:pt x="9523" y="5553"/>
                  </a:lnTo>
                  <a:lnTo>
                    <a:pt x="9523" y="5553"/>
                  </a:lnTo>
                  <a:lnTo>
                    <a:pt x="9498" y="5651"/>
                  </a:lnTo>
                  <a:lnTo>
                    <a:pt x="9474" y="5724"/>
                  </a:lnTo>
                  <a:lnTo>
                    <a:pt x="9401" y="5846"/>
                  </a:lnTo>
                  <a:lnTo>
                    <a:pt x="9279" y="5919"/>
                  </a:lnTo>
                  <a:lnTo>
                    <a:pt x="9206" y="5943"/>
                  </a:lnTo>
                  <a:lnTo>
                    <a:pt x="9133" y="5943"/>
                  </a:lnTo>
                  <a:lnTo>
                    <a:pt x="9133" y="5943"/>
                  </a:lnTo>
                  <a:close/>
                  <a:moveTo>
                    <a:pt x="9986" y="4409"/>
                  </a:moveTo>
                  <a:lnTo>
                    <a:pt x="9986" y="4409"/>
                  </a:lnTo>
                  <a:lnTo>
                    <a:pt x="9888" y="4409"/>
                  </a:lnTo>
                  <a:lnTo>
                    <a:pt x="9815" y="4384"/>
                  </a:lnTo>
                  <a:lnTo>
                    <a:pt x="9693" y="4287"/>
                  </a:lnTo>
                  <a:lnTo>
                    <a:pt x="9620" y="4165"/>
                  </a:lnTo>
                  <a:lnTo>
                    <a:pt x="9596" y="4092"/>
                  </a:lnTo>
                  <a:lnTo>
                    <a:pt x="9596" y="4019"/>
                  </a:lnTo>
                  <a:lnTo>
                    <a:pt x="9596" y="4019"/>
                  </a:lnTo>
                  <a:lnTo>
                    <a:pt x="9596" y="3946"/>
                  </a:lnTo>
                  <a:lnTo>
                    <a:pt x="9620" y="3873"/>
                  </a:lnTo>
                  <a:lnTo>
                    <a:pt x="9693" y="3751"/>
                  </a:lnTo>
                  <a:lnTo>
                    <a:pt x="9815" y="3654"/>
                  </a:lnTo>
                  <a:lnTo>
                    <a:pt x="9888" y="3629"/>
                  </a:lnTo>
                  <a:lnTo>
                    <a:pt x="9986" y="3629"/>
                  </a:lnTo>
                  <a:lnTo>
                    <a:pt x="9986" y="3629"/>
                  </a:lnTo>
                  <a:lnTo>
                    <a:pt x="10059" y="3629"/>
                  </a:lnTo>
                  <a:lnTo>
                    <a:pt x="10132" y="3654"/>
                  </a:lnTo>
                  <a:lnTo>
                    <a:pt x="10253" y="3751"/>
                  </a:lnTo>
                  <a:lnTo>
                    <a:pt x="10327" y="3873"/>
                  </a:lnTo>
                  <a:lnTo>
                    <a:pt x="10351" y="3946"/>
                  </a:lnTo>
                  <a:lnTo>
                    <a:pt x="10375" y="4019"/>
                  </a:lnTo>
                  <a:lnTo>
                    <a:pt x="10375" y="4019"/>
                  </a:lnTo>
                  <a:lnTo>
                    <a:pt x="10351" y="4092"/>
                  </a:lnTo>
                  <a:lnTo>
                    <a:pt x="10327" y="4165"/>
                  </a:lnTo>
                  <a:lnTo>
                    <a:pt x="10253" y="4287"/>
                  </a:lnTo>
                  <a:lnTo>
                    <a:pt x="10132" y="4384"/>
                  </a:lnTo>
                  <a:lnTo>
                    <a:pt x="10059" y="4409"/>
                  </a:lnTo>
                  <a:lnTo>
                    <a:pt x="9986" y="4409"/>
                  </a:lnTo>
                  <a:lnTo>
                    <a:pt x="9986" y="4409"/>
                  </a:lnTo>
                  <a:close/>
                  <a:moveTo>
                    <a:pt x="13200" y="4165"/>
                  </a:moveTo>
                  <a:lnTo>
                    <a:pt x="13200" y="4165"/>
                  </a:lnTo>
                  <a:lnTo>
                    <a:pt x="12957" y="3897"/>
                  </a:lnTo>
                  <a:lnTo>
                    <a:pt x="12713" y="3605"/>
                  </a:lnTo>
                  <a:lnTo>
                    <a:pt x="12713" y="3605"/>
                  </a:lnTo>
                  <a:lnTo>
                    <a:pt x="12372" y="3288"/>
                  </a:lnTo>
                  <a:lnTo>
                    <a:pt x="12007" y="3020"/>
                  </a:lnTo>
                  <a:lnTo>
                    <a:pt x="11642" y="2752"/>
                  </a:lnTo>
                  <a:lnTo>
                    <a:pt x="11276" y="2533"/>
                  </a:lnTo>
                  <a:lnTo>
                    <a:pt x="11276" y="2533"/>
                  </a:lnTo>
                  <a:lnTo>
                    <a:pt x="11715" y="2265"/>
                  </a:lnTo>
                  <a:lnTo>
                    <a:pt x="12153" y="2046"/>
                  </a:lnTo>
                  <a:lnTo>
                    <a:pt x="12518" y="1876"/>
                  </a:lnTo>
                  <a:lnTo>
                    <a:pt x="12884" y="1754"/>
                  </a:lnTo>
                  <a:lnTo>
                    <a:pt x="13176" y="1681"/>
                  </a:lnTo>
                  <a:lnTo>
                    <a:pt x="13444" y="1681"/>
                  </a:lnTo>
                  <a:lnTo>
                    <a:pt x="13541" y="1681"/>
                  </a:lnTo>
                  <a:lnTo>
                    <a:pt x="13639" y="1730"/>
                  </a:lnTo>
                  <a:lnTo>
                    <a:pt x="13736" y="1754"/>
                  </a:lnTo>
                  <a:lnTo>
                    <a:pt x="13809" y="1827"/>
                  </a:lnTo>
                  <a:lnTo>
                    <a:pt x="13809" y="1827"/>
                  </a:lnTo>
                  <a:lnTo>
                    <a:pt x="13858" y="1900"/>
                  </a:lnTo>
                  <a:lnTo>
                    <a:pt x="13907" y="1973"/>
                  </a:lnTo>
                  <a:lnTo>
                    <a:pt x="13931" y="2070"/>
                  </a:lnTo>
                  <a:lnTo>
                    <a:pt x="13955" y="2168"/>
                  </a:lnTo>
                  <a:lnTo>
                    <a:pt x="13955" y="2411"/>
                  </a:lnTo>
                  <a:lnTo>
                    <a:pt x="13882" y="2679"/>
                  </a:lnTo>
                  <a:lnTo>
                    <a:pt x="13785" y="3020"/>
                  </a:lnTo>
                  <a:lnTo>
                    <a:pt x="13639" y="3361"/>
                  </a:lnTo>
                  <a:lnTo>
                    <a:pt x="13444" y="3751"/>
                  </a:lnTo>
                  <a:lnTo>
                    <a:pt x="13200" y="4165"/>
                  </a:lnTo>
                  <a:lnTo>
                    <a:pt x="13200" y="4165"/>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17"/>
          <p:cNvGrpSpPr/>
          <p:nvPr/>
        </p:nvGrpSpPr>
        <p:grpSpPr>
          <a:xfrm rot="727535">
            <a:off x="356565" y="2902356"/>
            <a:ext cx="688825" cy="688786"/>
            <a:chOff x="576250" y="4319400"/>
            <a:chExt cx="442075" cy="442050"/>
          </a:xfrm>
        </p:grpSpPr>
        <p:sp>
          <p:nvSpPr>
            <p:cNvPr id="100" name="Google Shape;100;p17"/>
            <p:cNvSpPr/>
            <p:nvPr/>
          </p:nvSpPr>
          <p:spPr>
            <a:xfrm>
              <a:off x="576250" y="4319400"/>
              <a:ext cx="442075" cy="442050"/>
            </a:xfrm>
            <a:custGeom>
              <a:avLst/>
              <a:gdLst/>
              <a:ahLst/>
              <a:cxnLst/>
              <a:rect l="l" t="t" r="r" b="b"/>
              <a:pathLst>
                <a:path w="17683" h="17682" fill="none" extrusionOk="0">
                  <a:moveTo>
                    <a:pt x="11472" y="17292"/>
                  </a:moveTo>
                  <a:lnTo>
                    <a:pt x="11472" y="12153"/>
                  </a:lnTo>
                  <a:lnTo>
                    <a:pt x="16416" y="7209"/>
                  </a:lnTo>
                  <a:lnTo>
                    <a:pt x="16416" y="7209"/>
                  </a:lnTo>
                  <a:lnTo>
                    <a:pt x="16562" y="7063"/>
                  </a:lnTo>
                  <a:lnTo>
                    <a:pt x="16684" y="6868"/>
                  </a:lnTo>
                  <a:lnTo>
                    <a:pt x="16830" y="6674"/>
                  </a:lnTo>
                  <a:lnTo>
                    <a:pt x="16927" y="6479"/>
                  </a:lnTo>
                  <a:lnTo>
                    <a:pt x="17146" y="6040"/>
                  </a:lnTo>
                  <a:lnTo>
                    <a:pt x="17317" y="5553"/>
                  </a:lnTo>
                  <a:lnTo>
                    <a:pt x="17439" y="5042"/>
                  </a:lnTo>
                  <a:lnTo>
                    <a:pt x="17560" y="4506"/>
                  </a:lnTo>
                  <a:lnTo>
                    <a:pt x="17633" y="3970"/>
                  </a:lnTo>
                  <a:lnTo>
                    <a:pt x="17658" y="3434"/>
                  </a:lnTo>
                  <a:lnTo>
                    <a:pt x="17682" y="2898"/>
                  </a:lnTo>
                  <a:lnTo>
                    <a:pt x="17682" y="2411"/>
                  </a:lnTo>
                  <a:lnTo>
                    <a:pt x="17658" y="1949"/>
                  </a:lnTo>
                  <a:lnTo>
                    <a:pt x="17609" y="1510"/>
                  </a:lnTo>
                  <a:lnTo>
                    <a:pt x="17536" y="1145"/>
                  </a:lnTo>
                  <a:lnTo>
                    <a:pt x="17463" y="828"/>
                  </a:lnTo>
                  <a:lnTo>
                    <a:pt x="17366" y="585"/>
                  </a:lnTo>
                  <a:lnTo>
                    <a:pt x="17292" y="487"/>
                  </a:lnTo>
                  <a:lnTo>
                    <a:pt x="17244" y="439"/>
                  </a:lnTo>
                  <a:lnTo>
                    <a:pt x="17244" y="439"/>
                  </a:lnTo>
                  <a:lnTo>
                    <a:pt x="17195" y="390"/>
                  </a:lnTo>
                  <a:lnTo>
                    <a:pt x="17098" y="317"/>
                  </a:lnTo>
                  <a:lnTo>
                    <a:pt x="16854" y="219"/>
                  </a:lnTo>
                  <a:lnTo>
                    <a:pt x="16537" y="146"/>
                  </a:lnTo>
                  <a:lnTo>
                    <a:pt x="16172" y="73"/>
                  </a:lnTo>
                  <a:lnTo>
                    <a:pt x="15734" y="25"/>
                  </a:lnTo>
                  <a:lnTo>
                    <a:pt x="15271" y="0"/>
                  </a:lnTo>
                  <a:lnTo>
                    <a:pt x="14784" y="0"/>
                  </a:lnTo>
                  <a:lnTo>
                    <a:pt x="14248" y="25"/>
                  </a:lnTo>
                  <a:lnTo>
                    <a:pt x="13712" y="49"/>
                  </a:lnTo>
                  <a:lnTo>
                    <a:pt x="13176" y="122"/>
                  </a:lnTo>
                  <a:lnTo>
                    <a:pt x="12641" y="244"/>
                  </a:lnTo>
                  <a:lnTo>
                    <a:pt x="12129" y="366"/>
                  </a:lnTo>
                  <a:lnTo>
                    <a:pt x="11642" y="536"/>
                  </a:lnTo>
                  <a:lnTo>
                    <a:pt x="11204" y="755"/>
                  </a:lnTo>
                  <a:lnTo>
                    <a:pt x="10985" y="853"/>
                  </a:lnTo>
                  <a:lnTo>
                    <a:pt x="10814" y="999"/>
                  </a:lnTo>
                  <a:lnTo>
                    <a:pt x="10619" y="1121"/>
                  </a:lnTo>
                  <a:lnTo>
                    <a:pt x="10473" y="1267"/>
                  </a:lnTo>
                  <a:lnTo>
                    <a:pt x="5529" y="6211"/>
                  </a:lnTo>
                  <a:lnTo>
                    <a:pt x="390" y="6211"/>
                  </a:lnTo>
                  <a:lnTo>
                    <a:pt x="390" y="6211"/>
                  </a:lnTo>
                  <a:lnTo>
                    <a:pt x="244" y="6235"/>
                  </a:lnTo>
                  <a:lnTo>
                    <a:pt x="147" y="6259"/>
                  </a:lnTo>
                  <a:lnTo>
                    <a:pt x="49" y="6308"/>
                  </a:lnTo>
                  <a:lnTo>
                    <a:pt x="0" y="6381"/>
                  </a:lnTo>
                  <a:lnTo>
                    <a:pt x="0" y="6454"/>
                  </a:lnTo>
                  <a:lnTo>
                    <a:pt x="25" y="6552"/>
                  </a:lnTo>
                  <a:lnTo>
                    <a:pt x="74" y="6649"/>
                  </a:lnTo>
                  <a:lnTo>
                    <a:pt x="171" y="6771"/>
                  </a:lnTo>
                  <a:lnTo>
                    <a:pt x="2582" y="9158"/>
                  </a:lnTo>
                  <a:lnTo>
                    <a:pt x="2265" y="9474"/>
                  </a:lnTo>
                  <a:lnTo>
                    <a:pt x="950" y="9718"/>
                  </a:lnTo>
                  <a:lnTo>
                    <a:pt x="950" y="9718"/>
                  </a:lnTo>
                  <a:lnTo>
                    <a:pt x="804" y="9767"/>
                  </a:lnTo>
                  <a:lnTo>
                    <a:pt x="682" y="9815"/>
                  </a:lnTo>
                  <a:lnTo>
                    <a:pt x="609" y="9913"/>
                  </a:lnTo>
                  <a:lnTo>
                    <a:pt x="561" y="9986"/>
                  </a:lnTo>
                  <a:lnTo>
                    <a:pt x="561" y="10083"/>
                  </a:lnTo>
                  <a:lnTo>
                    <a:pt x="585" y="10205"/>
                  </a:lnTo>
                  <a:lnTo>
                    <a:pt x="634" y="10302"/>
                  </a:lnTo>
                  <a:lnTo>
                    <a:pt x="731" y="10424"/>
                  </a:lnTo>
                  <a:lnTo>
                    <a:pt x="7258" y="16951"/>
                  </a:lnTo>
                  <a:lnTo>
                    <a:pt x="7258" y="16951"/>
                  </a:lnTo>
                  <a:lnTo>
                    <a:pt x="7380" y="17049"/>
                  </a:lnTo>
                  <a:lnTo>
                    <a:pt x="7477" y="17097"/>
                  </a:lnTo>
                  <a:lnTo>
                    <a:pt x="7599" y="17122"/>
                  </a:lnTo>
                  <a:lnTo>
                    <a:pt x="7697" y="17122"/>
                  </a:lnTo>
                  <a:lnTo>
                    <a:pt x="7770" y="17073"/>
                  </a:lnTo>
                  <a:lnTo>
                    <a:pt x="7867" y="17000"/>
                  </a:lnTo>
                  <a:lnTo>
                    <a:pt x="7916" y="16878"/>
                  </a:lnTo>
                  <a:lnTo>
                    <a:pt x="7965" y="16732"/>
                  </a:lnTo>
                  <a:lnTo>
                    <a:pt x="8208" y="15417"/>
                  </a:lnTo>
                  <a:lnTo>
                    <a:pt x="8525" y="15100"/>
                  </a:lnTo>
                  <a:lnTo>
                    <a:pt x="10911" y="17511"/>
                  </a:lnTo>
                  <a:lnTo>
                    <a:pt x="10911" y="17511"/>
                  </a:lnTo>
                  <a:lnTo>
                    <a:pt x="11033" y="17609"/>
                  </a:lnTo>
                  <a:lnTo>
                    <a:pt x="11131" y="17658"/>
                  </a:lnTo>
                  <a:lnTo>
                    <a:pt x="11228" y="17682"/>
                  </a:lnTo>
                  <a:lnTo>
                    <a:pt x="11301" y="17682"/>
                  </a:lnTo>
                  <a:lnTo>
                    <a:pt x="11374" y="17633"/>
                  </a:lnTo>
                  <a:lnTo>
                    <a:pt x="11423" y="17536"/>
                  </a:lnTo>
                  <a:lnTo>
                    <a:pt x="11447" y="17438"/>
                  </a:lnTo>
                  <a:lnTo>
                    <a:pt x="11472" y="17292"/>
                  </a:lnTo>
                  <a:lnTo>
                    <a:pt x="11472" y="17292"/>
                  </a:lnTo>
                  <a:close/>
                  <a:moveTo>
                    <a:pt x="6162" y="12202"/>
                  </a:moveTo>
                  <a:lnTo>
                    <a:pt x="6162" y="12202"/>
                  </a:lnTo>
                  <a:lnTo>
                    <a:pt x="6089" y="12275"/>
                  </a:lnTo>
                  <a:lnTo>
                    <a:pt x="6016" y="12324"/>
                  </a:lnTo>
                  <a:lnTo>
                    <a:pt x="5919" y="12348"/>
                  </a:lnTo>
                  <a:lnTo>
                    <a:pt x="5821" y="12348"/>
                  </a:lnTo>
                  <a:lnTo>
                    <a:pt x="5724" y="12348"/>
                  </a:lnTo>
                  <a:lnTo>
                    <a:pt x="5626" y="12324"/>
                  </a:lnTo>
                  <a:lnTo>
                    <a:pt x="5553" y="12275"/>
                  </a:lnTo>
                  <a:lnTo>
                    <a:pt x="5480" y="12202"/>
                  </a:lnTo>
                  <a:lnTo>
                    <a:pt x="5480" y="12202"/>
                  </a:lnTo>
                  <a:lnTo>
                    <a:pt x="5407" y="12129"/>
                  </a:lnTo>
                  <a:lnTo>
                    <a:pt x="5359" y="12056"/>
                  </a:lnTo>
                  <a:lnTo>
                    <a:pt x="5334" y="11959"/>
                  </a:lnTo>
                  <a:lnTo>
                    <a:pt x="5334" y="11861"/>
                  </a:lnTo>
                  <a:lnTo>
                    <a:pt x="5334" y="11764"/>
                  </a:lnTo>
                  <a:lnTo>
                    <a:pt x="5359" y="11666"/>
                  </a:lnTo>
                  <a:lnTo>
                    <a:pt x="5407" y="11593"/>
                  </a:lnTo>
                  <a:lnTo>
                    <a:pt x="5480" y="11520"/>
                  </a:lnTo>
                  <a:lnTo>
                    <a:pt x="8013" y="8987"/>
                  </a:lnTo>
                  <a:lnTo>
                    <a:pt x="8013" y="8987"/>
                  </a:lnTo>
                  <a:lnTo>
                    <a:pt x="8086" y="8939"/>
                  </a:lnTo>
                  <a:lnTo>
                    <a:pt x="8159" y="8890"/>
                  </a:lnTo>
                  <a:lnTo>
                    <a:pt x="8257" y="8865"/>
                  </a:lnTo>
                  <a:lnTo>
                    <a:pt x="8354" y="8841"/>
                  </a:lnTo>
                  <a:lnTo>
                    <a:pt x="8452" y="8865"/>
                  </a:lnTo>
                  <a:lnTo>
                    <a:pt x="8525" y="8890"/>
                  </a:lnTo>
                  <a:lnTo>
                    <a:pt x="8622" y="8939"/>
                  </a:lnTo>
                  <a:lnTo>
                    <a:pt x="8695" y="8987"/>
                  </a:lnTo>
                  <a:lnTo>
                    <a:pt x="8695" y="8987"/>
                  </a:lnTo>
                  <a:lnTo>
                    <a:pt x="8744" y="9060"/>
                  </a:lnTo>
                  <a:lnTo>
                    <a:pt x="8793" y="9158"/>
                  </a:lnTo>
                  <a:lnTo>
                    <a:pt x="8817" y="9231"/>
                  </a:lnTo>
                  <a:lnTo>
                    <a:pt x="8841" y="9328"/>
                  </a:lnTo>
                  <a:lnTo>
                    <a:pt x="8817" y="9426"/>
                  </a:lnTo>
                  <a:lnTo>
                    <a:pt x="8793" y="9523"/>
                  </a:lnTo>
                  <a:lnTo>
                    <a:pt x="8744" y="9596"/>
                  </a:lnTo>
                  <a:lnTo>
                    <a:pt x="8695" y="9669"/>
                  </a:lnTo>
                  <a:lnTo>
                    <a:pt x="6162" y="12202"/>
                  </a:lnTo>
                  <a:close/>
                  <a:moveTo>
                    <a:pt x="13396" y="7307"/>
                  </a:moveTo>
                  <a:lnTo>
                    <a:pt x="13396" y="7307"/>
                  </a:lnTo>
                  <a:lnTo>
                    <a:pt x="13274" y="7404"/>
                  </a:lnTo>
                  <a:lnTo>
                    <a:pt x="13152" y="7477"/>
                  </a:lnTo>
                  <a:lnTo>
                    <a:pt x="13006" y="7526"/>
                  </a:lnTo>
                  <a:lnTo>
                    <a:pt x="12836" y="7550"/>
                  </a:lnTo>
                  <a:lnTo>
                    <a:pt x="12689" y="7526"/>
                  </a:lnTo>
                  <a:lnTo>
                    <a:pt x="12543" y="7477"/>
                  </a:lnTo>
                  <a:lnTo>
                    <a:pt x="12421" y="7404"/>
                  </a:lnTo>
                  <a:lnTo>
                    <a:pt x="12300" y="7307"/>
                  </a:lnTo>
                  <a:lnTo>
                    <a:pt x="10376" y="5383"/>
                  </a:lnTo>
                  <a:lnTo>
                    <a:pt x="10376" y="5383"/>
                  </a:lnTo>
                  <a:lnTo>
                    <a:pt x="10278" y="5261"/>
                  </a:lnTo>
                  <a:lnTo>
                    <a:pt x="10205" y="5139"/>
                  </a:lnTo>
                  <a:lnTo>
                    <a:pt x="10156" y="4993"/>
                  </a:lnTo>
                  <a:lnTo>
                    <a:pt x="10132" y="4847"/>
                  </a:lnTo>
                  <a:lnTo>
                    <a:pt x="10156" y="4676"/>
                  </a:lnTo>
                  <a:lnTo>
                    <a:pt x="10205" y="4530"/>
                  </a:lnTo>
                  <a:lnTo>
                    <a:pt x="10278" y="4408"/>
                  </a:lnTo>
                  <a:lnTo>
                    <a:pt x="10376" y="4287"/>
                  </a:lnTo>
                  <a:lnTo>
                    <a:pt x="10376" y="4287"/>
                  </a:lnTo>
                  <a:lnTo>
                    <a:pt x="11326" y="3313"/>
                  </a:lnTo>
                  <a:lnTo>
                    <a:pt x="11326" y="3313"/>
                  </a:lnTo>
                  <a:lnTo>
                    <a:pt x="11496" y="3166"/>
                  </a:lnTo>
                  <a:lnTo>
                    <a:pt x="11666" y="3045"/>
                  </a:lnTo>
                  <a:lnTo>
                    <a:pt x="11861" y="2947"/>
                  </a:lnTo>
                  <a:lnTo>
                    <a:pt x="12032" y="2850"/>
                  </a:lnTo>
                  <a:lnTo>
                    <a:pt x="12227" y="2777"/>
                  </a:lnTo>
                  <a:lnTo>
                    <a:pt x="12446" y="2728"/>
                  </a:lnTo>
                  <a:lnTo>
                    <a:pt x="12641" y="2704"/>
                  </a:lnTo>
                  <a:lnTo>
                    <a:pt x="12836" y="2704"/>
                  </a:lnTo>
                  <a:lnTo>
                    <a:pt x="13055" y="2704"/>
                  </a:lnTo>
                  <a:lnTo>
                    <a:pt x="13250" y="2728"/>
                  </a:lnTo>
                  <a:lnTo>
                    <a:pt x="13469" y="2777"/>
                  </a:lnTo>
                  <a:lnTo>
                    <a:pt x="13664" y="2850"/>
                  </a:lnTo>
                  <a:lnTo>
                    <a:pt x="13834" y="2947"/>
                  </a:lnTo>
                  <a:lnTo>
                    <a:pt x="14029" y="3045"/>
                  </a:lnTo>
                  <a:lnTo>
                    <a:pt x="14199" y="3166"/>
                  </a:lnTo>
                  <a:lnTo>
                    <a:pt x="14370" y="3313"/>
                  </a:lnTo>
                  <a:lnTo>
                    <a:pt x="14370" y="3313"/>
                  </a:lnTo>
                  <a:lnTo>
                    <a:pt x="14516" y="3483"/>
                  </a:lnTo>
                  <a:lnTo>
                    <a:pt x="14638" y="3653"/>
                  </a:lnTo>
                  <a:lnTo>
                    <a:pt x="14735" y="3848"/>
                  </a:lnTo>
                  <a:lnTo>
                    <a:pt x="14833" y="4019"/>
                  </a:lnTo>
                  <a:lnTo>
                    <a:pt x="14906" y="4214"/>
                  </a:lnTo>
                  <a:lnTo>
                    <a:pt x="14954" y="4433"/>
                  </a:lnTo>
                  <a:lnTo>
                    <a:pt x="14979" y="4628"/>
                  </a:lnTo>
                  <a:lnTo>
                    <a:pt x="14979" y="4847"/>
                  </a:lnTo>
                  <a:lnTo>
                    <a:pt x="14979" y="5042"/>
                  </a:lnTo>
                  <a:lnTo>
                    <a:pt x="14954" y="5237"/>
                  </a:lnTo>
                  <a:lnTo>
                    <a:pt x="14906" y="5456"/>
                  </a:lnTo>
                  <a:lnTo>
                    <a:pt x="14833" y="5651"/>
                  </a:lnTo>
                  <a:lnTo>
                    <a:pt x="14735" y="5821"/>
                  </a:lnTo>
                  <a:lnTo>
                    <a:pt x="14638" y="6016"/>
                  </a:lnTo>
                  <a:lnTo>
                    <a:pt x="14516" y="6186"/>
                  </a:lnTo>
                  <a:lnTo>
                    <a:pt x="14370" y="6357"/>
                  </a:lnTo>
                  <a:lnTo>
                    <a:pt x="14370" y="6357"/>
                  </a:lnTo>
                  <a:lnTo>
                    <a:pt x="13396" y="7307"/>
                  </a:lnTo>
                  <a:lnTo>
                    <a:pt x="13396" y="7307"/>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7"/>
            <p:cNvSpPr/>
            <p:nvPr/>
          </p:nvSpPr>
          <p:spPr>
            <a:xfrm>
              <a:off x="595725" y="4668875"/>
              <a:ext cx="73100" cy="73100"/>
            </a:xfrm>
            <a:custGeom>
              <a:avLst/>
              <a:gdLst/>
              <a:ahLst/>
              <a:cxnLst/>
              <a:rect l="l" t="t" r="r" b="b"/>
              <a:pathLst>
                <a:path w="2924" h="2924" fill="none" extrusionOk="0">
                  <a:moveTo>
                    <a:pt x="2656" y="269"/>
                  </a:moveTo>
                  <a:lnTo>
                    <a:pt x="2656" y="269"/>
                  </a:lnTo>
                  <a:lnTo>
                    <a:pt x="2509" y="147"/>
                  </a:lnTo>
                  <a:lnTo>
                    <a:pt x="2363" y="74"/>
                  </a:lnTo>
                  <a:lnTo>
                    <a:pt x="2193" y="25"/>
                  </a:lnTo>
                  <a:lnTo>
                    <a:pt x="2022" y="1"/>
                  </a:lnTo>
                  <a:lnTo>
                    <a:pt x="1852" y="25"/>
                  </a:lnTo>
                  <a:lnTo>
                    <a:pt x="1681" y="74"/>
                  </a:lnTo>
                  <a:lnTo>
                    <a:pt x="1511" y="147"/>
                  </a:lnTo>
                  <a:lnTo>
                    <a:pt x="1365" y="269"/>
                  </a:lnTo>
                  <a:lnTo>
                    <a:pt x="1365" y="269"/>
                  </a:lnTo>
                  <a:lnTo>
                    <a:pt x="1219" y="488"/>
                  </a:lnTo>
                  <a:lnTo>
                    <a:pt x="999" y="829"/>
                  </a:lnTo>
                  <a:lnTo>
                    <a:pt x="561" y="1730"/>
                  </a:lnTo>
                  <a:lnTo>
                    <a:pt x="171" y="2558"/>
                  </a:lnTo>
                  <a:lnTo>
                    <a:pt x="1" y="2924"/>
                  </a:lnTo>
                  <a:lnTo>
                    <a:pt x="1" y="2924"/>
                  </a:lnTo>
                  <a:lnTo>
                    <a:pt x="366" y="2753"/>
                  </a:lnTo>
                  <a:lnTo>
                    <a:pt x="1194" y="2363"/>
                  </a:lnTo>
                  <a:lnTo>
                    <a:pt x="2095" y="1925"/>
                  </a:lnTo>
                  <a:lnTo>
                    <a:pt x="2436" y="1706"/>
                  </a:lnTo>
                  <a:lnTo>
                    <a:pt x="2656" y="1560"/>
                  </a:lnTo>
                  <a:lnTo>
                    <a:pt x="2656" y="1560"/>
                  </a:lnTo>
                  <a:lnTo>
                    <a:pt x="2777" y="1414"/>
                  </a:lnTo>
                  <a:lnTo>
                    <a:pt x="2850" y="1243"/>
                  </a:lnTo>
                  <a:lnTo>
                    <a:pt x="2899" y="1073"/>
                  </a:lnTo>
                  <a:lnTo>
                    <a:pt x="2923" y="902"/>
                  </a:lnTo>
                  <a:lnTo>
                    <a:pt x="2899" y="732"/>
                  </a:lnTo>
                  <a:lnTo>
                    <a:pt x="2850" y="561"/>
                  </a:lnTo>
                  <a:lnTo>
                    <a:pt x="2777" y="415"/>
                  </a:lnTo>
                  <a:lnTo>
                    <a:pt x="2656" y="269"/>
                  </a:lnTo>
                  <a:lnTo>
                    <a:pt x="2656" y="269"/>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7"/>
            <p:cNvSpPr/>
            <p:nvPr/>
          </p:nvSpPr>
          <p:spPr>
            <a:xfrm>
              <a:off x="652350" y="4711500"/>
              <a:ext cx="46925" cy="46925"/>
            </a:xfrm>
            <a:custGeom>
              <a:avLst/>
              <a:gdLst/>
              <a:ahLst/>
              <a:cxnLst/>
              <a:rect l="l" t="t" r="r" b="b"/>
              <a:pathLst>
                <a:path w="1877" h="1877" fill="none" extrusionOk="0">
                  <a:moveTo>
                    <a:pt x="1657" y="244"/>
                  </a:moveTo>
                  <a:lnTo>
                    <a:pt x="1657" y="244"/>
                  </a:lnTo>
                  <a:lnTo>
                    <a:pt x="1535" y="147"/>
                  </a:lnTo>
                  <a:lnTo>
                    <a:pt x="1413" y="74"/>
                  </a:lnTo>
                  <a:lnTo>
                    <a:pt x="1267" y="25"/>
                  </a:lnTo>
                  <a:lnTo>
                    <a:pt x="1121" y="1"/>
                  </a:lnTo>
                  <a:lnTo>
                    <a:pt x="975" y="25"/>
                  </a:lnTo>
                  <a:lnTo>
                    <a:pt x="829" y="74"/>
                  </a:lnTo>
                  <a:lnTo>
                    <a:pt x="707" y="147"/>
                  </a:lnTo>
                  <a:lnTo>
                    <a:pt x="585" y="244"/>
                  </a:lnTo>
                  <a:lnTo>
                    <a:pt x="585" y="244"/>
                  </a:lnTo>
                  <a:lnTo>
                    <a:pt x="464" y="391"/>
                  </a:lnTo>
                  <a:lnTo>
                    <a:pt x="366" y="610"/>
                  </a:lnTo>
                  <a:lnTo>
                    <a:pt x="269" y="878"/>
                  </a:lnTo>
                  <a:lnTo>
                    <a:pt x="171" y="1170"/>
                  </a:lnTo>
                  <a:lnTo>
                    <a:pt x="50" y="1681"/>
                  </a:lnTo>
                  <a:lnTo>
                    <a:pt x="1" y="1876"/>
                  </a:lnTo>
                  <a:lnTo>
                    <a:pt x="1" y="1876"/>
                  </a:lnTo>
                  <a:lnTo>
                    <a:pt x="220" y="1852"/>
                  </a:lnTo>
                  <a:lnTo>
                    <a:pt x="731" y="1706"/>
                  </a:lnTo>
                  <a:lnTo>
                    <a:pt x="999" y="1633"/>
                  </a:lnTo>
                  <a:lnTo>
                    <a:pt x="1267" y="1535"/>
                  </a:lnTo>
                  <a:lnTo>
                    <a:pt x="1511" y="1413"/>
                  </a:lnTo>
                  <a:lnTo>
                    <a:pt x="1657" y="1316"/>
                  </a:lnTo>
                  <a:lnTo>
                    <a:pt x="1657" y="1316"/>
                  </a:lnTo>
                  <a:lnTo>
                    <a:pt x="1754" y="1194"/>
                  </a:lnTo>
                  <a:lnTo>
                    <a:pt x="1827" y="1048"/>
                  </a:lnTo>
                  <a:lnTo>
                    <a:pt x="1876" y="926"/>
                  </a:lnTo>
                  <a:lnTo>
                    <a:pt x="1876" y="780"/>
                  </a:lnTo>
                  <a:lnTo>
                    <a:pt x="1876" y="634"/>
                  </a:lnTo>
                  <a:lnTo>
                    <a:pt x="1827" y="488"/>
                  </a:lnTo>
                  <a:lnTo>
                    <a:pt x="1754" y="366"/>
                  </a:lnTo>
                  <a:lnTo>
                    <a:pt x="1657" y="244"/>
                  </a:lnTo>
                  <a:lnTo>
                    <a:pt x="1657" y="244"/>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7"/>
            <p:cNvSpPr/>
            <p:nvPr/>
          </p:nvSpPr>
          <p:spPr>
            <a:xfrm>
              <a:off x="579300" y="4638450"/>
              <a:ext cx="46900" cy="46900"/>
            </a:xfrm>
            <a:custGeom>
              <a:avLst/>
              <a:gdLst/>
              <a:ahLst/>
              <a:cxnLst/>
              <a:rect l="l" t="t" r="r" b="b"/>
              <a:pathLst>
                <a:path w="1876" h="1876" fill="none" extrusionOk="0">
                  <a:moveTo>
                    <a:pt x="1632" y="219"/>
                  </a:moveTo>
                  <a:lnTo>
                    <a:pt x="1632" y="219"/>
                  </a:lnTo>
                  <a:lnTo>
                    <a:pt x="1510" y="122"/>
                  </a:lnTo>
                  <a:lnTo>
                    <a:pt x="1388" y="49"/>
                  </a:lnTo>
                  <a:lnTo>
                    <a:pt x="1242" y="0"/>
                  </a:lnTo>
                  <a:lnTo>
                    <a:pt x="1096" y="0"/>
                  </a:lnTo>
                  <a:lnTo>
                    <a:pt x="950" y="0"/>
                  </a:lnTo>
                  <a:lnTo>
                    <a:pt x="828" y="49"/>
                  </a:lnTo>
                  <a:lnTo>
                    <a:pt x="682" y="122"/>
                  </a:lnTo>
                  <a:lnTo>
                    <a:pt x="560" y="219"/>
                  </a:lnTo>
                  <a:lnTo>
                    <a:pt x="560" y="219"/>
                  </a:lnTo>
                  <a:lnTo>
                    <a:pt x="463" y="366"/>
                  </a:lnTo>
                  <a:lnTo>
                    <a:pt x="341" y="609"/>
                  </a:lnTo>
                  <a:lnTo>
                    <a:pt x="244" y="877"/>
                  </a:lnTo>
                  <a:lnTo>
                    <a:pt x="171" y="1145"/>
                  </a:lnTo>
                  <a:lnTo>
                    <a:pt x="25" y="1656"/>
                  </a:lnTo>
                  <a:lnTo>
                    <a:pt x="0" y="1876"/>
                  </a:lnTo>
                  <a:lnTo>
                    <a:pt x="0" y="1876"/>
                  </a:lnTo>
                  <a:lnTo>
                    <a:pt x="195" y="1827"/>
                  </a:lnTo>
                  <a:lnTo>
                    <a:pt x="707" y="1705"/>
                  </a:lnTo>
                  <a:lnTo>
                    <a:pt x="999" y="1608"/>
                  </a:lnTo>
                  <a:lnTo>
                    <a:pt x="1267" y="1510"/>
                  </a:lnTo>
                  <a:lnTo>
                    <a:pt x="1486" y="1413"/>
                  </a:lnTo>
                  <a:lnTo>
                    <a:pt x="1632" y="1291"/>
                  </a:lnTo>
                  <a:lnTo>
                    <a:pt x="1632" y="1291"/>
                  </a:lnTo>
                  <a:lnTo>
                    <a:pt x="1729" y="1169"/>
                  </a:lnTo>
                  <a:lnTo>
                    <a:pt x="1802" y="1048"/>
                  </a:lnTo>
                  <a:lnTo>
                    <a:pt x="1851" y="901"/>
                  </a:lnTo>
                  <a:lnTo>
                    <a:pt x="1876" y="755"/>
                  </a:lnTo>
                  <a:lnTo>
                    <a:pt x="1851" y="609"/>
                  </a:lnTo>
                  <a:lnTo>
                    <a:pt x="1802" y="463"/>
                  </a:lnTo>
                  <a:lnTo>
                    <a:pt x="1729" y="341"/>
                  </a:lnTo>
                  <a:lnTo>
                    <a:pt x="1632" y="219"/>
                  </a:lnTo>
                  <a:lnTo>
                    <a:pt x="1632" y="219"/>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17"/>
          <p:cNvSpPr/>
          <p:nvPr/>
        </p:nvSpPr>
        <p:spPr>
          <a:xfrm>
            <a:off x="950842" y="1653336"/>
            <a:ext cx="261927" cy="250098"/>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7"/>
          <p:cNvSpPr/>
          <p:nvPr/>
        </p:nvSpPr>
        <p:spPr>
          <a:xfrm rot="2697461">
            <a:off x="2676635" y="2933545"/>
            <a:ext cx="397516" cy="379563"/>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7"/>
          <p:cNvSpPr/>
          <p:nvPr/>
        </p:nvSpPr>
        <p:spPr>
          <a:xfrm>
            <a:off x="2991122" y="2716843"/>
            <a:ext cx="159240" cy="152120"/>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7"/>
          <p:cNvSpPr/>
          <p:nvPr/>
        </p:nvSpPr>
        <p:spPr>
          <a:xfrm rot="1280389">
            <a:off x="769397" y="2407615"/>
            <a:ext cx="159248" cy="152102"/>
          </a:xfrm>
          <a:custGeom>
            <a:avLst/>
            <a:gdLst/>
            <a:ahLst/>
            <a:cxnLst/>
            <a:rect l="l" t="t" r="r" b="b"/>
            <a:pathLst>
              <a:path w="15101" h="14419" fill="none" extrusionOk="0">
                <a:moveTo>
                  <a:pt x="7234" y="293"/>
                </a:moveTo>
                <a:lnTo>
                  <a:pt x="7234" y="293"/>
                </a:lnTo>
                <a:lnTo>
                  <a:pt x="7307" y="171"/>
                </a:lnTo>
                <a:lnTo>
                  <a:pt x="7380" y="74"/>
                </a:lnTo>
                <a:lnTo>
                  <a:pt x="7477" y="25"/>
                </a:lnTo>
                <a:lnTo>
                  <a:pt x="7550" y="1"/>
                </a:lnTo>
                <a:lnTo>
                  <a:pt x="7623" y="25"/>
                </a:lnTo>
                <a:lnTo>
                  <a:pt x="7721" y="74"/>
                </a:lnTo>
                <a:lnTo>
                  <a:pt x="7794" y="171"/>
                </a:lnTo>
                <a:lnTo>
                  <a:pt x="7867" y="293"/>
                </a:lnTo>
                <a:lnTo>
                  <a:pt x="9523" y="4092"/>
                </a:lnTo>
                <a:lnTo>
                  <a:pt x="9523" y="4092"/>
                </a:lnTo>
                <a:lnTo>
                  <a:pt x="9596" y="4214"/>
                </a:lnTo>
                <a:lnTo>
                  <a:pt x="9718" y="4360"/>
                </a:lnTo>
                <a:lnTo>
                  <a:pt x="9840" y="4482"/>
                </a:lnTo>
                <a:lnTo>
                  <a:pt x="9986" y="4604"/>
                </a:lnTo>
                <a:lnTo>
                  <a:pt x="10132" y="4701"/>
                </a:lnTo>
                <a:lnTo>
                  <a:pt x="10302" y="4774"/>
                </a:lnTo>
                <a:lnTo>
                  <a:pt x="10449" y="4847"/>
                </a:lnTo>
                <a:lnTo>
                  <a:pt x="10619" y="4872"/>
                </a:lnTo>
                <a:lnTo>
                  <a:pt x="14711" y="5286"/>
                </a:lnTo>
                <a:lnTo>
                  <a:pt x="14711" y="5286"/>
                </a:lnTo>
                <a:lnTo>
                  <a:pt x="14857" y="5310"/>
                </a:lnTo>
                <a:lnTo>
                  <a:pt x="14979" y="5359"/>
                </a:lnTo>
                <a:lnTo>
                  <a:pt x="15052" y="5407"/>
                </a:lnTo>
                <a:lnTo>
                  <a:pt x="15100" y="5505"/>
                </a:lnTo>
                <a:lnTo>
                  <a:pt x="15100" y="5578"/>
                </a:lnTo>
                <a:lnTo>
                  <a:pt x="15076" y="5675"/>
                </a:lnTo>
                <a:lnTo>
                  <a:pt x="15027" y="5773"/>
                </a:lnTo>
                <a:lnTo>
                  <a:pt x="14906" y="5895"/>
                </a:lnTo>
                <a:lnTo>
                  <a:pt x="11837" y="8622"/>
                </a:lnTo>
                <a:lnTo>
                  <a:pt x="11837" y="8622"/>
                </a:lnTo>
                <a:lnTo>
                  <a:pt x="11715" y="8744"/>
                </a:lnTo>
                <a:lnTo>
                  <a:pt x="11618" y="8890"/>
                </a:lnTo>
                <a:lnTo>
                  <a:pt x="11545" y="9061"/>
                </a:lnTo>
                <a:lnTo>
                  <a:pt x="11472" y="9231"/>
                </a:lnTo>
                <a:lnTo>
                  <a:pt x="11423" y="9402"/>
                </a:lnTo>
                <a:lnTo>
                  <a:pt x="11398" y="9572"/>
                </a:lnTo>
                <a:lnTo>
                  <a:pt x="11398" y="9743"/>
                </a:lnTo>
                <a:lnTo>
                  <a:pt x="11423" y="9913"/>
                </a:lnTo>
                <a:lnTo>
                  <a:pt x="12300" y="13956"/>
                </a:lnTo>
                <a:lnTo>
                  <a:pt x="12300" y="13956"/>
                </a:lnTo>
                <a:lnTo>
                  <a:pt x="12324" y="14102"/>
                </a:lnTo>
                <a:lnTo>
                  <a:pt x="12300" y="14200"/>
                </a:lnTo>
                <a:lnTo>
                  <a:pt x="12275" y="14297"/>
                </a:lnTo>
                <a:lnTo>
                  <a:pt x="12227" y="14370"/>
                </a:lnTo>
                <a:lnTo>
                  <a:pt x="12129" y="14394"/>
                </a:lnTo>
                <a:lnTo>
                  <a:pt x="12032" y="14419"/>
                </a:lnTo>
                <a:lnTo>
                  <a:pt x="11910" y="14370"/>
                </a:lnTo>
                <a:lnTo>
                  <a:pt x="11788" y="14321"/>
                </a:lnTo>
                <a:lnTo>
                  <a:pt x="8232" y="12227"/>
                </a:lnTo>
                <a:lnTo>
                  <a:pt x="8232" y="12227"/>
                </a:lnTo>
                <a:lnTo>
                  <a:pt x="8086" y="12154"/>
                </a:lnTo>
                <a:lnTo>
                  <a:pt x="7916" y="12105"/>
                </a:lnTo>
                <a:lnTo>
                  <a:pt x="7721" y="12081"/>
                </a:lnTo>
                <a:lnTo>
                  <a:pt x="7550" y="12081"/>
                </a:lnTo>
                <a:lnTo>
                  <a:pt x="7380" y="12081"/>
                </a:lnTo>
                <a:lnTo>
                  <a:pt x="7185" y="12105"/>
                </a:lnTo>
                <a:lnTo>
                  <a:pt x="7015" y="12154"/>
                </a:lnTo>
                <a:lnTo>
                  <a:pt x="6868" y="12227"/>
                </a:lnTo>
                <a:lnTo>
                  <a:pt x="3313" y="14321"/>
                </a:lnTo>
                <a:lnTo>
                  <a:pt x="3313" y="14321"/>
                </a:lnTo>
                <a:lnTo>
                  <a:pt x="3191" y="14370"/>
                </a:lnTo>
                <a:lnTo>
                  <a:pt x="3069" y="14419"/>
                </a:lnTo>
                <a:lnTo>
                  <a:pt x="2972" y="14394"/>
                </a:lnTo>
                <a:lnTo>
                  <a:pt x="2874" y="14370"/>
                </a:lnTo>
                <a:lnTo>
                  <a:pt x="2826" y="14297"/>
                </a:lnTo>
                <a:lnTo>
                  <a:pt x="2801" y="14200"/>
                </a:lnTo>
                <a:lnTo>
                  <a:pt x="2777" y="14102"/>
                </a:lnTo>
                <a:lnTo>
                  <a:pt x="2801" y="13956"/>
                </a:lnTo>
                <a:lnTo>
                  <a:pt x="3678" y="9913"/>
                </a:lnTo>
                <a:lnTo>
                  <a:pt x="3678" y="9913"/>
                </a:lnTo>
                <a:lnTo>
                  <a:pt x="3702" y="9743"/>
                </a:lnTo>
                <a:lnTo>
                  <a:pt x="3702" y="9572"/>
                </a:lnTo>
                <a:lnTo>
                  <a:pt x="3678" y="9402"/>
                </a:lnTo>
                <a:lnTo>
                  <a:pt x="3629" y="9231"/>
                </a:lnTo>
                <a:lnTo>
                  <a:pt x="3556" y="9061"/>
                </a:lnTo>
                <a:lnTo>
                  <a:pt x="3483" y="8890"/>
                </a:lnTo>
                <a:lnTo>
                  <a:pt x="3386" y="8744"/>
                </a:lnTo>
                <a:lnTo>
                  <a:pt x="3264" y="8622"/>
                </a:lnTo>
                <a:lnTo>
                  <a:pt x="195" y="5895"/>
                </a:lnTo>
                <a:lnTo>
                  <a:pt x="195" y="5895"/>
                </a:lnTo>
                <a:lnTo>
                  <a:pt x="73" y="5773"/>
                </a:lnTo>
                <a:lnTo>
                  <a:pt x="25" y="5675"/>
                </a:lnTo>
                <a:lnTo>
                  <a:pt x="0" y="5578"/>
                </a:lnTo>
                <a:lnTo>
                  <a:pt x="0" y="5505"/>
                </a:lnTo>
                <a:lnTo>
                  <a:pt x="49" y="5407"/>
                </a:lnTo>
                <a:lnTo>
                  <a:pt x="122" y="5359"/>
                </a:lnTo>
                <a:lnTo>
                  <a:pt x="244" y="5310"/>
                </a:lnTo>
                <a:lnTo>
                  <a:pt x="390" y="5286"/>
                </a:lnTo>
                <a:lnTo>
                  <a:pt x="4482" y="4872"/>
                </a:lnTo>
                <a:lnTo>
                  <a:pt x="4482" y="4872"/>
                </a:lnTo>
                <a:lnTo>
                  <a:pt x="4652" y="4847"/>
                </a:lnTo>
                <a:lnTo>
                  <a:pt x="4798" y="4774"/>
                </a:lnTo>
                <a:lnTo>
                  <a:pt x="4969" y="4701"/>
                </a:lnTo>
                <a:lnTo>
                  <a:pt x="5115" y="4604"/>
                </a:lnTo>
                <a:lnTo>
                  <a:pt x="5261" y="4482"/>
                </a:lnTo>
                <a:lnTo>
                  <a:pt x="5383" y="4360"/>
                </a:lnTo>
                <a:lnTo>
                  <a:pt x="5505" y="4214"/>
                </a:lnTo>
                <a:lnTo>
                  <a:pt x="5578" y="4092"/>
                </a:lnTo>
                <a:lnTo>
                  <a:pt x="7234" y="293"/>
                </a:lnTo>
                <a:close/>
              </a:path>
            </a:pathLst>
          </a:custGeom>
          <a:noFill/>
          <a:ln w="19050" cap="rnd" cmpd="sng">
            <a:solidFill>
              <a:srgbClr val="7DFFB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3" name="Titolo 3">
            <a:extLst>
              <a:ext uri="{FF2B5EF4-FFF2-40B4-BE49-F238E27FC236}">
                <a16:creationId xmlns:a16="http://schemas.microsoft.com/office/drawing/2014/main" id="{5CCFB7AC-E2CC-05CD-67B2-514A2BD71F4B}"/>
              </a:ext>
            </a:extLst>
          </p:cNvPr>
          <p:cNvSpPr txBox="1">
            <a:spLocks/>
          </p:cNvSpPr>
          <p:nvPr/>
        </p:nvSpPr>
        <p:spPr>
          <a:xfrm>
            <a:off x="457200" y="434575"/>
            <a:ext cx="821817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1pPr>
            <a:lvl2pPr marR="0" lvl="1"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2pPr>
            <a:lvl3pPr marR="0" lvl="2"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3pPr>
            <a:lvl4pPr marR="0" lvl="3"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4pPr>
            <a:lvl5pPr marR="0" lvl="4"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5pPr>
            <a:lvl6pPr marR="0" lvl="5"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6pPr>
            <a:lvl7pPr marR="0" lvl="6"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7pPr>
            <a:lvl8pPr marR="0" lvl="7"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8pPr>
            <a:lvl9pPr marR="0" lvl="8" algn="l" rtl="0">
              <a:lnSpc>
                <a:spcPct val="100000"/>
              </a:lnSpc>
              <a:spcBef>
                <a:spcPts val="0"/>
              </a:spcBef>
              <a:spcAft>
                <a:spcPts val="0"/>
              </a:spcAft>
              <a:buClr>
                <a:schemeClr val="lt1"/>
              </a:buClr>
              <a:buSzPts val="4800"/>
              <a:buFont typeface="Titillium Web"/>
              <a:buNone/>
              <a:defRPr sz="4800" b="1" i="0" u="none" strike="noStrike" cap="none">
                <a:solidFill>
                  <a:schemeClr val="lt1"/>
                </a:solidFill>
                <a:latin typeface="Titillium Web"/>
                <a:ea typeface="Titillium Web"/>
                <a:cs typeface="Titillium Web"/>
                <a:sym typeface="Titillium Web"/>
              </a:defRPr>
            </a:lvl9pPr>
          </a:lstStyle>
          <a:p>
            <a:r>
              <a:rPr lang="it-IT" sz="3600" dirty="0"/>
              <a:t>Conclusioni</a:t>
            </a:r>
          </a:p>
        </p:txBody>
      </p:sp>
      <p:sp>
        <p:nvSpPr>
          <p:cNvPr id="4" name="CasellaDiTesto 3">
            <a:extLst>
              <a:ext uri="{FF2B5EF4-FFF2-40B4-BE49-F238E27FC236}">
                <a16:creationId xmlns:a16="http://schemas.microsoft.com/office/drawing/2014/main" id="{135608DD-D6B9-76C6-899F-BB00895AB066}"/>
              </a:ext>
            </a:extLst>
          </p:cNvPr>
          <p:cNvSpPr txBox="1"/>
          <p:nvPr/>
        </p:nvSpPr>
        <p:spPr>
          <a:xfrm>
            <a:off x="0" y="4881841"/>
            <a:ext cx="2697804" cy="261610"/>
          </a:xfrm>
          <a:prstGeom prst="rect">
            <a:avLst/>
          </a:prstGeom>
          <a:noFill/>
        </p:spPr>
        <p:txBody>
          <a:bodyPr wrap="square" rtlCol="0">
            <a:spAutoFit/>
          </a:bodyPr>
          <a:lstStyle/>
          <a:p>
            <a:r>
              <a:rPr lang="it-IT" sz="1100" dirty="0">
                <a:solidFill>
                  <a:schemeClr val="bg1"/>
                </a:solidFill>
                <a:latin typeface="Titillium Web" panose="00000500000000000000" pitchFamily="2" charset="0"/>
              </a:rPr>
              <a:t>Garozzo Valerio, </a:t>
            </a:r>
            <a:r>
              <a:rPr lang="it-IT" sz="1100" dirty="0" err="1">
                <a:solidFill>
                  <a:schemeClr val="bg1"/>
                </a:solidFill>
                <a:latin typeface="Titillium Web" panose="00000500000000000000" pitchFamily="2" charset="0"/>
              </a:rPr>
              <a:t>Mihal</a:t>
            </a:r>
            <a:r>
              <a:rPr lang="it-IT" sz="1100" dirty="0">
                <a:solidFill>
                  <a:schemeClr val="bg1"/>
                </a:solidFill>
                <a:latin typeface="Titillium Web" panose="00000500000000000000" pitchFamily="2" charset="0"/>
              </a:rPr>
              <a:t> Vlad, Moini Federica</a:t>
            </a:r>
          </a:p>
        </p:txBody>
      </p:sp>
    </p:spTree>
  </p:cSld>
  <p:clrMapOvr>
    <a:masterClrMapping/>
  </p:clrMapOvr>
</p:sld>
</file>

<file path=ppt/theme/theme1.xml><?xml version="1.0" encoding="utf-8"?>
<a:theme xmlns:a="http://schemas.openxmlformats.org/drawingml/2006/main" name="Ninacor template">
  <a:themeElements>
    <a:clrScheme name="Custom 347">
      <a:dk1>
        <a:srgbClr val="000000"/>
      </a:dk1>
      <a:lt1>
        <a:srgbClr val="FFFFFF"/>
      </a:lt1>
      <a:dk2>
        <a:srgbClr val="9199AA"/>
      </a:dk2>
      <a:lt2>
        <a:srgbClr val="E4E7EC"/>
      </a:lt2>
      <a:accent1>
        <a:srgbClr val="002988"/>
      </a:accent1>
      <a:accent2>
        <a:srgbClr val="004CF8"/>
      </a:accent2>
      <a:accent3>
        <a:srgbClr val="7DFFB1"/>
      </a:accent3>
      <a:accent4>
        <a:srgbClr val="E0FF7D"/>
      </a:accent4>
      <a:accent5>
        <a:srgbClr val="FFF16B"/>
      </a:accent5>
      <a:accent6>
        <a:srgbClr val="FFFF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TotalTime>
  <Words>1567</Words>
  <Application>Microsoft Macintosh PowerPoint</Application>
  <PresentationFormat>Presentazione su schermo (16:9)</PresentationFormat>
  <Paragraphs>147</Paragraphs>
  <Slides>27</Slides>
  <Notes>5</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27</vt:i4>
      </vt:variant>
    </vt:vector>
  </HeadingPairs>
  <TitlesOfParts>
    <vt:vector size="33" baseType="lpstr">
      <vt:lpstr>Titillium Web Light</vt:lpstr>
      <vt:lpstr>Wingdings</vt:lpstr>
      <vt:lpstr>Courier New</vt:lpstr>
      <vt:lpstr>Arial</vt:lpstr>
      <vt:lpstr>Titillium Web</vt:lpstr>
      <vt:lpstr>Ninacor template</vt:lpstr>
      <vt:lpstr>Presentazione standard di PowerPoint</vt:lpstr>
      <vt:lpstr>Obiettivi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Federica Moini</dc:creator>
  <cp:lastModifiedBy>Valerio GAROZZO</cp:lastModifiedBy>
  <cp:revision>16</cp:revision>
  <dcterms:modified xsi:type="dcterms:W3CDTF">2025-11-20T11:22:24Z</dcterms:modified>
</cp:coreProperties>
</file>